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32ec86b-bdb0-a014-f8fd-a22f51a17185}">
          <p14:sldIdLst>
            <p14:sldId id="256"/>
            <p14:sldId id="257"/>
            <p14:sldId id="258"/>
          </p14:sldIdLst>
        </p14:section>
        <p14:section name="Application de gestion de cabinet" id="{df8c1e43-3941-e30b-f103-11dedc596cf5}">
          <p14:sldIdLst>
            <p14:sldId id="259"/>
            <p14:sldId id="260"/>
            <p14:sldId id="261"/>
            <p14:sldId id="262"/>
            <p14:sldId id="263"/>
            <p14:sldId id="264"/>
            <p14:sldId id="265"/>
            <p14:sldId id="266"/>
          </p14:sldIdLst>
        </p14:section>
        <p14:section name="Autres réalisations" id="{265c155d-25f5-fd15-ef80-de9d32d8fae8}">
          <p14:sldIdLst>
            <p14:sldId id="267"/>
            <p14:sldId id="268"/>
            <p14:sldId id="269"/>
          </p14:sldIdLst>
        </p14:section>
        <p14:section name="Conclusion" id="{004e97b6-5927-1a3e-6a53-3e58180ec2e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Bonjour. Je m'appelle Dorian Pachot, je suis en deuxième année de BTS SIO option SLAM à IRIS MediaSchool Rouen.
Je vais présenter mes réalisations en suivant le tableau de synthèse, et je vais surtout détailler mon projet en cours : une application de gestion pour les cabinets de courtage en assurance. Je finirai par SYNCRO, mon stage, et la base de données de Pla'Net.
DURÉE TOTALE PRÉVUE : environ 8 min 40, soit 1 min 20 de marge sur les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Je suis entré en BTS SIO SLAM en septembre 2025. En première année, des TP de réseaux, de systèmes, de cybersécurité et de développement. En février 2026, j'ai livré un premier site à un client, CRP-Assurance. D'avril à août, j'ai développé SYNCRO pour Suitime, en parallèle des cours puis en stage. Cette année : Linux avancé, bases de données avancées, Pla'Net, et depuis octobre l'application de gestion de cabinet.
SI ON ME DEMANDE
• La reconversion : j'ai joué au handball en National 1, puis j'ai travaillé dans la restauration, le management et le paysagisme. Un accident du travail en 2025 m'a poussé à me reconvertir ; l'informatique m'attirait depuis longtemps.
• Le stage : SYNCRO a commencé en avril en parallèle des cours ; le stage à temps plein, c'était du 6 juillet au 7 août.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Voici mon tableau de synthèse. Chaque compétence est couverte plusieurs fois. La ligne rouge, c'est la réalisation en milieu professionnel : SYNCRO, qui couvre les six compétences. La ligne orange, c'est le projet que je vais détailler : l'application de gestion de cabinet.
SI ON ME DEMANDE (pourquoi ce point est coché)
• SYNCRO, 01 Patrimoine : rôles et permissions par groupe, serveur Linux, script de déploiement qui supprime les fichiers obsolètes.
• SYNCRO, 02 Incidents : refus de l'App Store (connexion cassée depuis cinq jours), notifications iPhone, double blocage des créneaux après minuit.
• SYNCRO, 03 Présence en ligne : site vitrine appsyncro.fr et ses pages légales, fiches sur l'App Store et Google Play.
• SYNCRO, 04 Mode projet : cahier des charges, maquettes, treize écrans maquettés pour cadrer une évolution avec les responsables.
• SYNCRO, 05 Mise à disposition : mise en production (Nginx, PM2, HTTPS), test de connexion à chaque déploiement, publication sur les deux stores, back-office pour l'équipe.
• SYNCRO, 06 Développement pro : c'est pendant ce stage que j'ai choisi le DevOps ; veille sur les règles des stores et les versions de Flutter ; lettre de recommandation.
• Gestion de cabinet, 01 : rôles admin et user, contrôle des droits, sauvegardes quotidiennes testées. 04 : cahier des charges et cahier technique. 05 : déploiement Docker par cabinet, recette prévue avec le client. 06 : choix techniques appuyés sur une recherche (tarifs Scaleway, plateformes gérées par Firebase), sources citées dans le cahier technique.
• Pla'Net, 03 : application web en ligne qui exploite les données de l'école (le planning des cours).
• CRP-Assurance, 01 : respect des règles d'utilisation des données (RGPD, mentions légales), identifiants hors du code, journal des erreurs protégé.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 J'en viens au projet principal : une application de gestion pour les cabinets de courtage en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Un cabinet de courtage travaille avec un réseau de mandataires, qui vendent des contrats d'assurance (prêt, habitation, auto, prévoyance, santé) de plusieurs compagnies. Chaque contrat signé rapporte une commission, partagée entre le cabinet et le mandataire.
Aujourd'hui tout est dispersé : sites des compagnies, Excel, e-mails. D'où la problématique écrite dans le cahier des charges.
SI ON ME DEMANDE
• Commission partagée : l'application calcule la commission attendue (prime × taux du produit), puis la répartit entre le cabinet et le mandataire selon un pourcentage paramétrable. Ensuite on la compare à ce que la compagnie a vraiment versé.
• ORIAS : le registre officiel des intermédiaires en assurance. Le numéro est obligatoire ; il fait partie du paramétrage du cabinet (nom, logo, coordonnées, ORIAS).
• Pour tout cabinet : rien n'est écrit en dur. Chaque cabinet saisit ses compagnies, ses produits, ses taux et ses pièces obligatoires, sans toucher au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Deux rôles : l'admin, c'est le gérant ; le user, c'est le mandataire, qui ne voit que ses propres clients. Dix fonctionnalités, de la fiche client jusqu'à l'agenda. Le cœur, ce sont les contrats, avec leur statut (en attente de pièces, envoyé à la compagnie, accepté, actif, résilié ou refusé), et les commissions.
SI ON ME DEMANDE
• Journal d'audit : chaque action importante (connexion, création, modification, suppression) est enregistrée avec son auteur et sa date, consultable par l'admin. C'est l'API qui l'alimente, pour qu'aucune action n'y échappe.
• Rapprochement attendu / reçu : les commissions versées par les compagnies sont saisies ou importées en CSV, puis comparées aux commissions attendues ; l'application signale les écarts et les commissions manquantes. Elle prévoit aussi les trois prochains mois.
• Le point à valider : tous les mandataires ont-ils accès à tout le catalogue, ou le gérant choisit-il les produits de chacun ? Par défaut, tout le catalogue ; c'est à confirmer avec le client.
• Comparateur emprunteur : l'admin saisit les offres des compagnies, le user entre le profil (âge, montant, durée, fumeur ou non), l'application classe par coût total et exporte un PDF pour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Une seule application Flutter, compilée pour téléphone (Android, iOS) et ordinateur (Windows, macOS). Elle parle en HTTPS à l'API Node.js du cabinet. Chaque cabinet a sa propre installation dans Docker : son API et sa base MySQL. Autour, les services de Scaleway à Paris pour les documents et les e-mails, et Firebase pour les notifications sur téléphone.
SI ON ME DEMANDE
• Seule l'API touche à la base : l'application affiche et contrôle la saisie, mais les droits, les calculs et le catalogue viennent toujours du serveur. Sur l'appareil, on ne garde que le jeton de connexion, dans le stockage sécurisé du système.
• Un chemin par cabinet : un seul domaine en HTTPS, par exemple nomdelapplication.fr/nomducabinet. Un reverse proxy, avec un certificat Let's Encrypt, envoie chaque chemin vers l'API du bon cabinet. Au premier lancement, l'utilisateur saisit l'identifiant de son cabinet.
• Jeton JWT : après la connexion, l'API donne un jeton de courte durée, envoyé avec chaque requête, et un jeton de renouvellement pour ne pas retaper le mot de passe.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Trois principes : une seule base de code pour le mobile et l'ordinateur, des technologies que je maîtrise déjà (Flutter, Node.js, SQL), et des données hébergées en France.
SI ON ME DEMANDE
• Compatible S3 : S3 est le format de stockage d'Amazon, devenu un standard. Scaleway le parle aussi : si on change de fournisseur, on ne réécrit pas le code. Prix : environ 0,016 € par Go et par mois à Paris.
• SPF, DKIM, DMARC : trois réglages DNS qui prouvent que les e-mails viennent bien de notre domaine. Sans eux, les relances partent dans les spams.
• Firebase ne gère pas Windows : sur ordinateur, l'application ouverte interroge l'API toutes les 5 minutes (et à l'ouverture), met à jour le compteur d'alertes et affiche une notification Windows ou macOS. Plus tard, on pourra passer en temps réel avec une WebSocket.
• Pourquoi Express et pas un framework plus complet : il est minimaliste, les routes, les middlewares et les erreurs s'écrivent explicitement, donc je comprends tout ce qui se passe.
• Gestion d'état Flutter : Provider, celle que présente la documentation officielle.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Chaque requête passe trois contrôles : le jeton, le rôle, puis la propriété de la donnée. Par exemple, un mandataire qui demande le client d'un autre mandataire est refusé, même avec un jeton valide.
SI ON ME DEMANDE
• 401 ou 403 : 401, on ne sait pas qui tu es (pas de jeton, ou jeton expiré) ; 403, on sait qui tu es mais tu n'as pas le droit. 404 sert à ne pas révéler qu'une donnée existe.
• Mots de passe hachés : bcrypt ou argon2, jamais en clair.
• Limite de tentatives : contre les attaques par force brute sur la connexion.
• Requêtes préparées : contre l'injection SQL, aucune saisie n'est collée dans une requête.
• Liens temporaires : les documents sont dans un espace privé ; après contrôle des droits, l'API génère une URL présignée valable quelques minutes. Les fichiers déposés sont contrôlés : PDF, JPEG ou PNG, 10 Mo maximum, et renommés avec un identifiant unique.
• Clés hors du code : les clés S3, e-mail et Firebase sont dans des variables d'environnement, jamais dans le code ni sur GitHub.
• Montants en DECIMAL : primes, taux et commissions en DECIMAL et jamais en FLOAT, pour éviter les erreurs d'arrondi sur de l'argent.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L'application est vendue aux cabinets, et nous hébergeons chaque installation. Une installation par cabinet, identique et reproductible grâce à Docker. Une mise à jour = une nouvelle image Docker, déployée cabinet par cabinet ; les migrations de la base s'exécutent au démarrage, sans perte de données.
SI ON ME DEMANDE
• Sous-traitant : en hébergeant les données des clients des cabinets, nous sommes sous-traitants au sens du RGPD. Un contrat de sous-traitance est signé avec chaque cabinet ; chaque cabinet tient son registre des traitements.
• Trois environnements : développement sur mon poste, démonstration avec des données fictives, production (une par cabinet).
• Une sauvegarde qui n'est pas testée… n'en est pas une : seul un test de restauration prouve qu'on peut s'en servir. Sauvegardes quotidiennes, rangées dans un autre espace S3, la plus ancienne supprimée après 30 jours.
• Pourquoi pas une seule base pour tous les cabinets : l'isolement est plus simple à garantir et à expliquer au client ; une erreur de filtre ne peut pas mélanger deux cabinets.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Le cahier des charges et le cahier technique sont rédigés depuis le 21 octobre. La prochaine étape, c'est la base de données : le MCD, le MLD, le script SQL et un jeu de données fictives. Ensuite l'API avec ses tests, puis les écrans Flutter, et une recette avec le client.
SI ON ME DEMANDE
• Les tests prévus : tests unitaires sur les règles critiques (calcul et répartition des commissions, rapprochement, contrôle des droits), test de chaque route de l'API dans les cas autorisés ET refusés (avec Postman ou Bruno), tests des principaux écrans, et un cahier de recette avec le client.
• iOS demande un Mac : la compilation et la publication iOS et macOS se font sur un Mac, avec un compte développeur Apple payant, idéalement au nom de l'éditeur. Pour la démonstration du BTS, Android et Windows suffisent.
• Organisation : Git et GitHub avec une branche par fonctionnalité, Trello pour le suivi, VS Code et Android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SYNCRO, c'est ma réalisation en milieu professionnel. Je l'ai développée pour Suitime d'avril à août 2026, d'abord en parallèle des cours puis en stage. Elle est publiée sur l'App Store et Google Play.
SI ON ME DEMANDE
• Refus de l'App Store : les testeurs d'Apple ne pouvaient pas se connecter. La connexion était cassée en production depuis cinq jours, à cause d'anciens fichiers restés sur le serveur. J'ai corrigé, puis changé le script de déploiement : il supprime les fichiers obsolètes et lance un test de connexion à chaque mise en ligne. C'est ce qui m'a donné envie du DevOps.
• Créneaux après minuit : un membre pouvait être bloqué deux fois sur le même créneau. La protection existait, mais elle était fausse pour les horaires qui passent minuit. J'ai écrit une nouvelle méthode, vérifiée sur les cent combinaisons possibles.
• Notifications iPhone : elles n'avaient jamais marché, sans message d'erreur. J'ai comparé point par point avec une autre application de l'entreprise qui fonctionnait, et trouvé trois écarts.
• Cloisonnement des groupes : en relisant les routes sensibles une par une, j'ai trouvé un défaut : un responsable pouvait agir hors de son groupe. Corrigé.
• Technique : jeton d'accès de 15 minutes, jeton de renouvellement de 7 jours ; Nginx, PM2 et HTTPS ; 84 commits en cinq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Pla'Net, c'est le planning des cours de l'école, fait à cinq en quatre jours. Notre choix : deux jours et demi de planification et de base de données avant de coder. Le code a ensuite été généré en grande partie par l'IA, et c'est la conception qui a permis de le vérifier carte par carte.
SI ON ME DEMANDE
• Colonne obsolete : on ne supprime jamais rien. Chaque table a une colonne obsolete ; archiver une salle ou un intervenant ne casse pas les séances passées.
• Table de liaison : seance_classe. Un cours commun à trois classes, c'est UNE séance liée à trois classes, au lieu de trois copies.
• Carte DÉCISION : une carte Trello qui bloquait le code tant que quatre questions de conception n'étaient pas tranchées (par exemple : une classe déjà en cours bloque l'enregistrement, une salle déjà prise donne seulement un avertissement).
• Migrations rejouables : on peut relancer un script de migration sans créer de doublon ; il archive au lieu de supprimer. L'import dans phpMyAdmin perdait la base sélectionnée, j'ai réécrit le script.
• L'écart : 34 cartes sur 45, environ 75 % de la charge. Il manque la sauvegarde, pourtant prioritaire : c'est le prochain chantier. Leçon : avec l'IA, il faut suivre l'avancement en cartes terminées, pas en jours.
• Contrôles dans la base : clés étrangères, fin après le début, index sur les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Ma veille a un objectif : devenir DevOps, et un bon DevOps. Quatre étapes : des sources choisies, un tri avec une seule question (est-ce que ça touche un projet, un cours ou le métier visé ?), une lecture critique, et une trace sur le portfolio.
À la une en ce moment : PHP2Shell, deux failles critiques dans PHP.
SI ON ME DEMANDE
• PHP2Shell : CVE-2026-109618 et CVE-2026-109619, annoncées par PHP le 20 octobre et corrigées le 21 (versions 8.2.35, 8.3.36, 8.4.27, 8.5.12). Une requête HTTP sans être connecté peut suffire à exécuter du code. Touche PHP-FPM et Apache avec mod_php. La seule vraie parade : mettre à jour.
• Mes projets en PHP : CRP-Assurance est sur un hébergement mutualisé LWS, c'est l'hébergeur qui corrige ; mon rôle est de vérifier la version de PHP active et de choisir une branche encore suivie. Pla'Net tourne avec PHP-FPM sur le serveur de l'école. Le portfolio est publié en HTML : aucun PHP ne tourne en ligne.
• GitLab 101 et Terraform Associate : les deux certifications que je prépare, l'intégration continue et l'infrastructure décrite en code.
• ClickFix : un faux CAPTCHA qui pousse la victime à coller elle-même une commande ; plus répandu que le phishing classique. La faille est souvent humaine.
• NIS2 : directive européenne sur la cybersécurité ; l'ANSSI a publié le référentiel ReCyF pour accompagner la mise en conformité.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Merci. Je suis prêt pour vos questions et pour la partie pratique : je peux ouvrir SYNCRO, Pla'Net, le site de CRP-Assurance ou le portfolio. Les cahiers de l'application de gestion de cabinet sont aussi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B0D1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7315200"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2011680"/>
            <a:ext cx="7498080" cy="201168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4" name="Text 0"/>
          <p:cNvSpPr/>
          <p:nvPr>
            <p:ph idx="102" type="body" hasCustomPrompt="1"/>
          </p:nvPr>
        </p:nvSpPr>
        <p:spPr>
          <a:xfrm>
            <a:off x="548640" y="4297680"/>
            <a:ext cx="7315200" cy="914400"/>
          </a:xfrm>
          <a:prstGeom prst="rect">
            <a:avLst/>
          </a:prstGeom>
          <a:noFill/>
          <a:ln/>
        </p:spPr>
        <p:txBody>
          <a:bodyPr wrap="square" rtlCol="0"/>
          <a:lstStyle>
            <a:lvl1pPr indent="0" marL="0">
              <a:buNone/>
              <a:defRPr lang="en-US" sz="1800" dirty="0">
                <a:solidFill>
                  <a:srgbClr val="C9CBD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calaire">
    <p:bg>
      <p:bgPr>
        <a:solidFill>
          <a:srgbClr val="0B0D1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103120"/>
            <a:ext cx="9144000" cy="365760"/>
          </a:xfrm>
          <a:prstGeom prst="rect">
            <a:avLst/>
          </a:prstGeom>
          <a:noFill/>
          <a:ln/>
        </p:spPr>
        <p:txBody>
          <a:bodyPr wrap="square" rtlCol="0"/>
          <a:lstStyle>
            <a:lvl1pPr indent="0" marL="0">
              <a:buNone/>
              <a:defRPr lang="en-US" sz="1400" b="1" spc="200" kern="0" dirty="0">
                <a:solidFill>
                  <a:srgbClr val="F59E0B"/>
                </a:solidFill>
              </a:defRPr>
            </a:lvl1pPr>
          </a:lstStyle>
          <a:p>
            <a:pPr indent="0" marL="0">
              <a:buNone/>
            </a:pPr>
            <a:endParaRPr lang="en-US" sz="1400" dirty="0"/>
          </a:p>
        </p:txBody>
      </p:sp>
      <p:sp>
        <p:nvSpPr>
          <p:cNvPr id="3" name="Text 0"/>
          <p:cNvSpPr/>
          <p:nvPr>
            <p:ph idx="101" type="title" hasCustomPrompt="1"/>
          </p:nvPr>
        </p:nvSpPr>
        <p:spPr>
          <a:xfrm>
            <a:off x="548640" y="2560320"/>
            <a:ext cx="10515600" cy="146304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4" name="Text 0"/>
          <p:cNvSpPr/>
          <p:nvPr>
            <p:ph idx="102" type="body" hasCustomPrompt="1"/>
          </p:nvPr>
        </p:nvSpPr>
        <p:spPr>
          <a:xfrm>
            <a:off x="548640" y="4206240"/>
            <a:ext cx="9144000" cy="548640"/>
          </a:xfrm>
          <a:prstGeom prst="rect">
            <a:avLst/>
          </a:prstGeom>
          <a:noFill/>
          <a:ln/>
        </p:spPr>
        <p:txBody>
          <a:bodyPr wrap="square" rtlCol="0"/>
          <a:lstStyle>
            <a:lvl1pPr indent="0" marL="0">
              <a:buNone/>
              <a:defRPr lang="en-US" sz="1800" dirty="0">
                <a:solidFill>
                  <a:srgbClr val="C9CBD3"/>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Dorian Pachot · BTS SIO SLAM · Épreuve E5</a:t>
            </a:r>
            <a:endParaRPr lang="en-US" sz="10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rianpachot-create.github.io/portefollio/" TargetMode="External"/><Relationship Id="rId2" Type="http://schemas.openxmlformats.org/officeDocument/2006/relationships/hyperlink" Target="https://apps.apple.com/fr/app/syncro/id6787898930" TargetMode="External"/><Relationship Id="rId3" Type="http://schemas.openxmlformats.org/officeDocument/2006/relationships/hyperlink" Target="https://crp-assurance.com" TargetMode="External"/><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7315200" cy="365760"/>
          </a:xfrm>
          <a:prstGeom prst="rect">
            <a:avLst/>
          </a:prstGeom>
          <a:noFill/>
          <a:ln/>
        </p:spPr>
        <p:txBody>
          <a:bodyPr wrap="square" rtlCol="0"/>
          <a:lstStyle/>
          <a:p>
            <a:pPr indent="0" marL="0">
              <a:buNone/>
            </a:pPr>
            <a:r>
              <a:rPr lang="en-US" sz="1400" b="1" spc="200" kern="0" dirty="0">
                <a:solidFill>
                  <a:schemeClr val="accent1"/>
                </a:solidFill>
              </a:rPr>
              <a:t>BTS SIO · OPTION SLAM · ÉPREUVE E5</a:t>
            </a:r>
            <a:endParaRPr lang="en-US" sz="1400" dirty="0"/>
          </a:p>
        </p:txBody>
      </p:sp>
      <p:sp>
        <p:nvSpPr>
          <p:cNvPr id="3" name="Text 0"/>
          <p:cNvSpPr/>
          <p:nvPr>
            <p:ph idx="101" type="title" hasCustomPrompt="1"/>
          </p:nvPr>
        </p:nvSpPr>
        <p:spPr>
          <a:xfrm>
            <a:off x="548640" y="2011680"/>
            <a:ext cx="7498080" cy="2011680"/>
          </a:xfrm>
          <a:prstGeom prst="rect">
            <a:avLst/>
          </a:prstGeom>
          <a:noFill/>
          <a:ln/>
        </p:spPr>
        <p:txBody>
          <a:bodyPr wrap="square" rtlCol="0" anchor="t"/>
          <a:lstStyle/>
          <a:p>
            <a:pPr algn="l" indent="0" marL="0">
              <a:buNone/>
            </a:pPr>
            <a:r>
              <a:rPr lang="en-US" sz="4400" b="1" dirty="0">
                <a:solidFill>
                  <a:schemeClr val="bg1"/>
                </a:solidFill>
                <a:latin typeface="Arial" pitchFamily="34" charset="0"/>
                <a:ea typeface="Arial" pitchFamily="34" charset="-122"/>
                <a:cs typeface="Arial" pitchFamily="34" charset="-120"/>
              </a:rPr>
              <a:t>Support et mise à disposition de services informatiques</a:t>
            </a:r>
            <a:endParaRPr lang="en-US" sz="4400" dirty="0"/>
          </a:p>
        </p:txBody>
      </p:sp>
      <p:sp>
        <p:nvSpPr>
          <p:cNvPr id="4" name="Text 0"/>
          <p:cNvSpPr/>
          <p:nvPr>
            <p:ph idx="102" type="body" hasCustomPrompt="1"/>
          </p:nvPr>
        </p:nvSpPr>
        <p:spPr>
          <a:xfrm>
            <a:off x="548640" y="4297680"/>
            <a:ext cx="7315200" cy="914400"/>
          </a:xfrm>
          <a:prstGeom prst="rect">
            <a:avLst/>
          </a:prstGeom>
          <a:noFill/>
          <a:ln/>
        </p:spPr>
        <p:txBody>
          <a:bodyPr wrap="square" rtlCol="0"/>
          <a:lstStyle/>
          <a:p>
            <a:pPr indent="0" marL="0">
              <a:buNone/>
            </a:pPr>
            <a:r>
              <a:rPr lang="en-US" sz="1800" dirty="0">
                <a:solidFill>
                  <a:srgbClr val="C9CBD3"/>
                </a:solidFill>
              </a:rPr>
              <a:t>Dorian Pachot · IRIS MediaSchool Rouen</a:t>
            </a:r>
            <a:endParaRPr lang="en-US" sz="1800" dirty="0"/>
          </a:p>
        </p:txBody>
      </p:sp>
      <p:pic>
        <p:nvPicPr>
          <p:cNvPr id="5" name="Portrait" descr="Portrait de Dorian Pachot">    </p:cNvPr>
          <p:cNvPicPr>
            <a:picLocks noChangeAspect="1"/>
          </p:cNvPicPr>
          <p:nvPr/>
        </p:nvPicPr>
        <p:blipFill>
          <a:blip r:embed="rId1"/>
          <a:stretch>
            <a:fillRect/>
          </a:stretch>
        </p:blipFill>
        <p:spPr>
          <a:xfrm>
            <a:off x="8732520" y="1691640"/>
            <a:ext cx="2834640" cy="283464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MON PARCOURS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Deux années de BTS, un stage, un projet en cours</a:t>
            </a:r>
            <a:endParaRPr lang="en-US" sz="3400" dirty="0"/>
          </a:p>
        </p:txBody>
      </p:sp>
      <p:sp>
        <p:nvSpPr>
          <p:cNvPr id="4" name="Frise"/>
          <p:cNvSpPr/>
          <p:nvPr/>
        </p:nvSpPr>
        <p:spPr>
          <a:xfrm>
            <a:off x="658368" y="2395728"/>
            <a:ext cx="10728655" cy="0"/>
          </a:xfrm>
          <a:prstGeom prst="line">
            <a:avLst/>
          </a:prstGeom>
          <a:noFill/>
          <a:ln w="25400">
            <a:solidFill>
              <a:schemeClr val="accent6"/>
            </a:solidFill>
            <a:prstDash val="solid"/>
          </a:ln>
        </p:spPr>
      </p:sp>
      <p:sp>
        <p:nvSpPr>
          <p:cNvPr id="5" name="Point de la frise"/>
          <p:cNvSpPr/>
          <p:nvPr/>
        </p:nvSpPr>
        <p:spPr>
          <a:xfrm>
            <a:off x="548640" y="2286000"/>
            <a:ext cx="219456" cy="219456"/>
          </a:xfrm>
          <a:prstGeom prst="ellipse">
            <a:avLst/>
          </a:prstGeom>
          <a:solidFill>
            <a:schemeClr val="accent5"/>
          </a:solidFill>
          <a:ln w="25400">
            <a:solidFill>
              <a:schemeClr val="bg1"/>
            </a:solidFill>
            <a:prstDash val="solid"/>
          </a:ln>
        </p:spPr>
      </p:sp>
      <p:sp>
        <p:nvSpPr>
          <p:cNvPr id="6" name="Text 4"/>
          <p:cNvSpPr txBox="1"/>
          <p:nvPr/>
        </p:nvSpPr>
        <p:spPr>
          <a:xfrm>
            <a:off x="548640" y="1783080"/>
            <a:ext cx="1711909" cy="365760"/>
          </a:xfrm>
          <a:prstGeom prst="rect">
            <a:avLst/>
          </a:prstGeom>
          <a:noFill/>
          <a:ln/>
        </p:spPr>
        <p:txBody>
          <a:bodyPr wrap="square" lIns="0" tIns="0" rIns="0" bIns="0" rtlCol="0" anchor="t"/>
          <a:lstStyle/>
          <a:p>
            <a:pPr indent="0" marL="0">
              <a:buNone/>
            </a:pPr>
            <a:r>
              <a:rPr lang="en-US" sz="1400" b="1" dirty="0">
                <a:solidFill>
                  <a:schemeClr val="tx1"/>
                </a:solidFill>
              </a:rPr>
              <a:t>Sept. 2025</a:t>
            </a:r>
            <a:endParaRPr lang="en-US" sz="1400" dirty="0"/>
          </a:p>
        </p:txBody>
      </p:sp>
      <p:sp>
        <p:nvSpPr>
          <p:cNvPr id="7" name="Carte"/>
          <p:cNvSpPr/>
          <p:nvPr/>
        </p:nvSpPr>
        <p:spPr>
          <a:xfrm>
            <a:off x="548640" y="2788920"/>
            <a:ext cx="1684477" cy="1600200"/>
          </a:xfrm>
          <a:prstGeom prst="roundRect">
            <a:avLst>
              <a:gd name="adj" fmla="val 6857"/>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8" name="Text 6"/>
          <p:cNvSpPr txBox="1"/>
          <p:nvPr/>
        </p:nvSpPr>
        <p:spPr>
          <a:xfrm>
            <a:off x="713232" y="2944368"/>
            <a:ext cx="1355293" cy="1325880"/>
          </a:xfrm>
          <a:prstGeom prst="rect">
            <a:avLst/>
          </a:prstGeom>
          <a:noFill/>
          <a:ln/>
        </p:spPr>
        <p:txBody>
          <a:bodyPr wrap="square" lIns="0" tIns="0" rIns="0" bIns="0" rtlCol="0" anchor="t"/>
          <a:lstStyle/>
          <a:p>
            <a:pPr indent="0" marL="0">
              <a:buNone/>
            </a:pPr>
            <a:r>
              <a:rPr lang="en-US" sz="1500" dirty="0">
                <a:solidFill>
                  <a:schemeClr val="tx1"/>
                </a:solidFill>
              </a:rPr>
              <a:t>Entrée en BTS SIO SLAM</a:t>
            </a:r>
            <a:endParaRPr lang="en-US" sz="1500" dirty="0"/>
          </a:p>
        </p:txBody>
      </p:sp>
      <p:sp>
        <p:nvSpPr>
          <p:cNvPr id="9" name="Point de la frise"/>
          <p:cNvSpPr/>
          <p:nvPr/>
        </p:nvSpPr>
        <p:spPr>
          <a:xfrm>
            <a:off x="2397709" y="2286000"/>
            <a:ext cx="219456" cy="219456"/>
          </a:xfrm>
          <a:prstGeom prst="ellipse">
            <a:avLst/>
          </a:prstGeom>
          <a:solidFill>
            <a:schemeClr val="accent5"/>
          </a:solidFill>
          <a:ln w="25400">
            <a:solidFill>
              <a:schemeClr val="bg1"/>
            </a:solidFill>
            <a:prstDash val="solid"/>
          </a:ln>
        </p:spPr>
      </p:sp>
      <p:sp>
        <p:nvSpPr>
          <p:cNvPr id="10" name="Text 8"/>
          <p:cNvSpPr txBox="1"/>
          <p:nvPr/>
        </p:nvSpPr>
        <p:spPr>
          <a:xfrm>
            <a:off x="2397709" y="1783080"/>
            <a:ext cx="1711909" cy="365760"/>
          </a:xfrm>
          <a:prstGeom prst="rect">
            <a:avLst/>
          </a:prstGeom>
          <a:noFill/>
          <a:ln/>
        </p:spPr>
        <p:txBody>
          <a:bodyPr wrap="square" lIns="0" tIns="0" rIns="0" bIns="0" rtlCol="0" anchor="t"/>
          <a:lstStyle/>
          <a:p>
            <a:pPr indent="0" marL="0">
              <a:buNone/>
            </a:pPr>
            <a:r>
              <a:rPr lang="en-US" sz="1400" b="1" dirty="0">
                <a:solidFill>
                  <a:schemeClr val="tx1"/>
                </a:solidFill>
              </a:rPr>
              <a:t>1re année</a:t>
            </a:r>
            <a:endParaRPr lang="en-US" sz="1400" dirty="0"/>
          </a:p>
        </p:txBody>
      </p:sp>
      <p:sp>
        <p:nvSpPr>
          <p:cNvPr id="11" name="Carte"/>
          <p:cNvSpPr/>
          <p:nvPr/>
        </p:nvSpPr>
        <p:spPr>
          <a:xfrm>
            <a:off x="2397709" y="2788920"/>
            <a:ext cx="1684477" cy="1600200"/>
          </a:xfrm>
          <a:prstGeom prst="roundRect">
            <a:avLst>
              <a:gd name="adj" fmla="val 6857"/>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12" name="Text 10"/>
          <p:cNvSpPr txBox="1"/>
          <p:nvPr/>
        </p:nvSpPr>
        <p:spPr>
          <a:xfrm>
            <a:off x="2562301" y="2944368"/>
            <a:ext cx="1355293" cy="1325880"/>
          </a:xfrm>
          <a:prstGeom prst="rect">
            <a:avLst/>
          </a:prstGeom>
          <a:noFill/>
          <a:ln/>
        </p:spPr>
        <p:txBody>
          <a:bodyPr wrap="square" lIns="0" tIns="0" rIns="0" bIns="0" rtlCol="0" anchor="t"/>
          <a:lstStyle/>
          <a:p>
            <a:pPr indent="0" marL="0">
              <a:buNone/>
            </a:pPr>
            <a:r>
              <a:rPr lang="en-US" sz="1500" dirty="0">
                <a:solidFill>
                  <a:schemeClr val="tx1"/>
                </a:solidFill>
              </a:rPr>
              <a:t>Réseaux, systèmes, cybersécurité, développement</a:t>
            </a:r>
            <a:endParaRPr lang="en-US" sz="1500" dirty="0"/>
          </a:p>
        </p:txBody>
      </p:sp>
      <p:sp>
        <p:nvSpPr>
          <p:cNvPr id="13" name="Point de la frise"/>
          <p:cNvSpPr/>
          <p:nvPr/>
        </p:nvSpPr>
        <p:spPr>
          <a:xfrm>
            <a:off x="4246778" y="2286000"/>
            <a:ext cx="219456" cy="219456"/>
          </a:xfrm>
          <a:prstGeom prst="ellipse">
            <a:avLst/>
          </a:prstGeom>
          <a:solidFill>
            <a:schemeClr val="accent5"/>
          </a:solidFill>
          <a:ln w="25400">
            <a:solidFill>
              <a:schemeClr val="bg1"/>
            </a:solidFill>
            <a:prstDash val="solid"/>
          </a:ln>
        </p:spPr>
      </p:sp>
      <p:sp>
        <p:nvSpPr>
          <p:cNvPr id="14" name="Text 12"/>
          <p:cNvSpPr txBox="1"/>
          <p:nvPr/>
        </p:nvSpPr>
        <p:spPr>
          <a:xfrm>
            <a:off x="4246778" y="1783080"/>
            <a:ext cx="1711909" cy="365760"/>
          </a:xfrm>
          <a:prstGeom prst="rect">
            <a:avLst/>
          </a:prstGeom>
          <a:noFill/>
          <a:ln/>
        </p:spPr>
        <p:txBody>
          <a:bodyPr wrap="square" lIns="0" tIns="0" rIns="0" bIns="0" rtlCol="0" anchor="t"/>
          <a:lstStyle/>
          <a:p>
            <a:pPr indent="0" marL="0">
              <a:buNone/>
            </a:pPr>
            <a:r>
              <a:rPr lang="en-US" sz="1400" b="1" dirty="0">
                <a:solidFill>
                  <a:schemeClr val="tx1"/>
                </a:solidFill>
              </a:rPr>
              <a:t>Févr. 2026</a:t>
            </a:r>
            <a:endParaRPr lang="en-US" sz="1400" dirty="0"/>
          </a:p>
        </p:txBody>
      </p:sp>
      <p:sp>
        <p:nvSpPr>
          <p:cNvPr id="15" name="Carte"/>
          <p:cNvSpPr/>
          <p:nvPr/>
        </p:nvSpPr>
        <p:spPr>
          <a:xfrm>
            <a:off x="4246778" y="2788920"/>
            <a:ext cx="1684477" cy="1600200"/>
          </a:xfrm>
          <a:prstGeom prst="roundRect">
            <a:avLst>
              <a:gd name="adj" fmla="val 6857"/>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16" name="Text 14"/>
          <p:cNvSpPr txBox="1"/>
          <p:nvPr/>
        </p:nvSpPr>
        <p:spPr>
          <a:xfrm>
            <a:off x="4411370" y="2944368"/>
            <a:ext cx="1355293" cy="1325880"/>
          </a:xfrm>
          <a:prstGeom prst="rect">
            <a:avLst/>
          </a:prstGeom>
          <a:noFill/>
          <a:ln/>
        </p:spPr>
        <p:txBody>
          <a:bodyPr wrap="square" lIns="0" tIns="0" rIns="0" bIns="0" rtlCol="0" anchor="t"/>
          <a:lstStyle/>
          <a:p>
            <a:pPr indent="0" marL="0">
              <a:buNone/>
            </a:pPr>
            <a:r>
              <a:rPr lang="en-US" sz="1500" dirty="0">
                <a:solidFill>
                  <a:schemeClr val="tx1"/>
                </a:solidFill>
              </a:rPr>
              <a:t>CRP-Assurance, site d'un client</a:t>
            </a:r>
            <a:endParaRPr lang="en-US" sz="1500" dirty="0"/>
          </a:p>
        </p:txBody>
      </p:sp>
      <p:sp>
        <p:nvSpPr>
          <p:cNvPr id="17" name="Point de la frise"/>
          <p:cNvSpPr/>
          <p:nvPr/>
        </p:nvSpPr>
        <p:spPr>
          <a:xfrm>
            <a:off x="6095848" y="2286000"/>
            <a:ext cx="219456" cy="219456"/>
          </a:xfrm>
          <a:prstGeom prst="ellipse">
            <a:avLst/>
          </a:prstGeom>
          <a:solidFill>
            <a:schemeClr val="accent1"/>
          </a:solidFill>
          <a:ln w="25400">
            <a:solidFill>
              <a:schemeClr val="bg1"/>
            </a:solidFill>
            <a:prstDash val="solid"/>
          </a:ln>
        </p:spPr>
      </p:sp>
      <p:sp>
        <p:nvSpPr>
          <p:cNvPr id="18" name="Text 16"/>
          <p:cNvSpPr txBox="1"/>
          <p:nvPr/>
        </p:nvSpPr>
        <p:spPr>
          <a:xfrm>
            <a:off x="6095848" y="1783080"/>
            <a:ext cx="1711909" cy="365760"/>
          </a:xfrm>
          <a:prstGeom prst="rect">
            <a:avLst/>
          </a:prstGeom>
          <a:noFill/>
          <a:ln/>
        </p:spPr>
        <p:txBody>
          <a:bodyPr wrap="square" lIns="0" tIns="0" rIns="0" bIns="0" rtlCol="0" anchor="t"/>
          <a:lstStyle/>
          <a:p>
            <a:pPr indent="0" marL="0">
              <a:buNone/>
            </a:pPr>
            <a:r>
              <a:rPr lang="en-US" sz="1400" b="1" dirty="0">
                <a:solidFill>
                  <a:schemeClr val="tx1"/>
                </a:solidFill>
              </a:rPr>
              <a:t>Avril – août 2026</a:t>
            </a:r>
            <a:endParaRPr lang="en-US" sz="1400" dirty="0"/>
          </a:p>
        </p:txBody>
      </p:sp>
      <p:sp>
        <p:nvSpPr>
          <p:cNvPr id="19" name="Carte"/>
          <p:cNvSpPr/>
          <p:nvPr/>
        </p:nvSpPr>
        <p:spPr>
          <a:xfrm>
            <a:off x="6095848" y="2788920"/>
            <a:ext cx="1684477" cy="1600200"/>
          </a:xfrm>
          <a:prstGeom prst="roundRect">
            <a:avLst>
              <a:gd name="adj" fmla="val 6857"/>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20" name="Text 18"/>
          <p:cNvSpPr txBox="1"/>
          <p:nvPr/>
        </p:nvSpPr>
        <p:spPr>
          <a:xfrm>
            <a:off x="6260440" y="2944368"/>
            <a:ext cx="1355293" cy="1325880"/>
          </a:xfrm>
          <a:prstGeom prst="rect">
            <a:avLst/>
          </a:prstGeom>
          <a:noFill/>
          <a:ln/>
        </p:spPr>
        <p:txBody>
          <a:bodyPr wrap="square" lIns="0" tIns="0" rIns="0" bIns="0" rtlCol="0" anchor="t"/>
          <a:lstStyle/>
          <a:p>
            <a:pPr indent="0" marL="0">
              <a:buNone/>
            </a:pPr>
            <a:r>
              <a:rPr lang="en-US" sz="1500" dirty="0">
                <a:solidFill>
                  <a:schemeClr val="tx1"/>
                </a:solidFill>
              </a:rPr>
              <a:t>Stage chez Suitime : SYNCRO</a:t>
            </a:r>
            <a:endParaRPr lang="en-US" sz="1500" dirty="0"/>
          </a:p>
        </p:txBody>
      </p:sp>
      <p:sp>
        <p:nvSpPr>
          <p:cNvPr id="21" name="Point de la frise"/>
          <p:cNvSpPr/>
          <p:nvPr/>
        </p:nvSpPr>
        <p:spPr>
          <a:xfrm>
            <a:off x="7944917" y="2286000"/>
            <a:ext cx="219456" cy="219456"/>
          </a:xfrm>
          <a:prstGeom prst="ellipse">
            <a:avLst/>
          </a:prstGeom>
          <a:solidFill>
            <a:schemeClr val="accent5"/>
          </a:solidFill>
          <a:ln w="25400">
            <a:solidFill>
              <a:schemeClr val="bg1"/>
            </a:solidFill>
            <a:prstDash val="solid"/>
          </a:ln>
        </p:spPr>
      </p:sp>
      <p:sp>
        <p:nvSpPr>
          <p:cNvPr id="22" name="Text 20"/>
          <p:cNvSpPr txBox="1"/>
          <p:nvPr/>
        </p:nvSpPr>
        <p:spPr>
          <a:xfrm>
            <a:off x="7944917" y="1783080"/>
            <a:ext cx="1711909" cy="365760"/>
          </a:xfrm>
          <a:prstGeom prst="rect">
            <a:avLst/>
          </a:prstGeom>
          <a:noFill/>
          <a:ln/>
        </p:spPr>
        <p:txBody>
          <a:bodyPr wrap="square" lIns="0" tIns="0" rIns="0" bIns="0" rtlCol="0" anchor="t"/>
          <a:lstStyle/>
          <a:p>
            <a:pPr indent="0" marL="0">
              <a:buNone/>
            </a:pPr>
            <a:r>
              <a:rPr lang="en-US" sz="1400" b="1" dirty="0">
                <a:solidFill>
                  <a:schemeClr val="tx1"/>
                </a:solidFill>
              </a:rPr>
              <a:t>Sept. 2026</a:t>
            </a:r>
            <a:endParaRPr lang="en-US" sz="1400" dirty="0"/>
          </a:p>
        </p:txBody>
      </p:sp>
      <p:sp>
        <p:nvSpPr>
          <p:cNvPr id="23" name="Carte"/>
          <p:cNvSpPr/>
          <p:nvPr/>
        </p:nvSpPr>
        <p:spPr>
          <a:xfrm>
            <a:off x="7944917" y="2788920"/>
            <a:ext cx="1684477" cy="1600200"/>
          </a:xfrm>
          <a:prstGeom prst="roundRect">
            <a:avLst>
              <a:gd name="adj" fmla="val 6857"/>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24" name="Text 22"/>
          <p:cNvSpPr txBox="1"/>
          <p:nvPr/>
        </p:nvSpPr>
        <p:spPr>
          <a:xfrm>
            <a:off x="8109509" y="2944368"/>
            <a:ext cx="1355293" cy="1325880"/>
          </a:xfrm>
          <a:prstGeom prst="rect">
            <a:avLst/>
          </a:prstGeom>
          <a:noFill/>
          <a:ln/>
        </p:spPr>
        <p:txBody>
          <a:bodyPr wrap="square" lIns="0" tIns="0" rIns="0" bIns="0" rtlCol="0" anchor="t"/>
          <a:lstStyle/>
          <a:p>
            <a:pPr indent="0" marL="0">
              <a:buNone/>
            </a:pPr>
            <a:r>
              <a:rPr lang="en-US" sz="1500" dirty="0">
                <a:solidFill>
                  <a:schemeClr val="tx1"/>
                </a:solidFill>
              </a:rPr>
              <a:t>Linux avancé, BDD avancées, Pla'Net</a:t>
            </a:r>
            <a:endParaRPr lang="en-US" sz="1500" dirty="0"/>
          </a:p>
        </p:txBody>
      </p:sp>
      <p:sp>
        <p:nvSpPr>
          <p:cNvPr id="25" name="Point de la frise"/>
          <p:cNvSpPr/>
          <p:nvPr/>
        </p:nvSpPr>
        <p:spPr>
          <a:xfrm>
            <a:off x="9793986" y="2286000"/>
            <a:ext cx="219456" cy="219456"/>
          </a:xfrm>
          <a:prstGeom prst="ellipse">
            <a:avLst/>
          </a:prstGeom>
          <a:solidFill>
            <a:schemeClr val="accent2"/>
          </a:solidFill>
          <a:ln w="25400">
            <a:solidFill>
              <a:schemeClr val="bg1"/>
            </a:solidFill>
            <a:prstDash val="solid"/>
          </a:ln>
        </p:spPr>
      </p:sp>
      <p:sp>
        <p:nvSpPr>
          <p:cNvPr id="26" name="Text 24"/>
          <p:cNvSpPr txBox="1"/>
          <p:nvPr/>
        </p:nvSpPr>
        <p:spPr>
          <a:xfrm>
            <a:off x="9793986" y="1783080"/>
            <a:ext cx="1711909" cy="365760"/>
          </a:xfrm>
          <a:prstGeom prst="rect">
            <a:avLst/>
          </a:prstGeom>
          <a:noFill/>
          <a:ln/>
        </p:spPr>
        <p:txBody>
          <a:bodyPr wrap="square" lIns="0" tIns="0" rIns="0" bIns="0" rtlCol="0" anchor="t"/>
          <a:lstStyle/>
          <a:p>
            <a:pPr indent="0" marL="0">
              <a:buNone/>
            </a:pPr>
            <a:r>
              <a:rPr lang="en-US" sz="1400" b="1" dirty="0">
                <a:solidFill>
                  <a:schemeClr val="accent2"/>
                </a:solidFill>
              </a:rPr>
              <a:t>Oct. 2026</a:t>
            </a:r>
            <a:endParaRPr lang="en-US" sz="1400" dirty="0"/>
          </a:p>
        </p:txBody>
      </p:sp>
      <p:sp>
        <p:nvSpPr>
          <p:cNvPr id="27" name="Carte"/>
          <p:cNvSpPr/>
          <p:nvPr/>
        </p:nvSpPr>
        <p:spPr>
          <a:xfrm>
            <a:off x="9793986" y="2788920"/>
            <a:ext cx="1684477" cy="1600200"/>
          </a:xfrm>
          <a:prstGeom prst="roundRect">
            <a:avLst>
              <a:gd name="adj" fmla="val 6857"/>
            </a:avLst>
          </a:prstGeom>
          <a:solidFill>
            <a:schemeClr val="accent2">
              <a:alpha val="10000"/>
            </a:schemeClr>
          </a:solidFill>
          <a:ln w="12700">
            <a:solidFill>
              <a:schemeClr val="accent2"/>
            </a:solidFill>
            <a:prstDash val="solid"/>
          </a:ln>
          <a:effectLst>
            <a:outerShdw sx="100000" sy="100000" kx="0" ky="0" algn="bl" rotWithShape="0" blurRad="127000" dist="25400" dir="5400000">
              <a:srgbClr val="12141B">
                <a:alpha val="12000"/>
              </a:srgbClr>
            </a:outerShdw>
          </a:effectLst>
        </p:spPr>
      </p:sp>
      <p:sp>
        <p:nvSpPr>
          <p:cNvPr id="28" name="Text 26"/>
          <p:cNvSpPr txBox="1"/>
          <p:nvPr/>
        </p:nvSpPr>
        <p:spPr>
          <a:xfrm>
            <a:off x="9958578" y="2944368"/>
            <a:ext cx="1355293" cy="1325880"/>
          </a:xfrm>
          <a:prstGeom prst="rect">
            <a:avLst/>
          </a:prstGeom>
          <a:noFill/>
          <a:ln/>
        </p:spPr>
        <p:txBody>
          <a:bodyPr wrap="square" lIns="0" tIns="0" rIns="0" bIns="0" rtlCol="0" anchor="t"/>
          <a:lstStyle/>
          <a:p>
            <a:pPr indent="0" marL="0">
              <a:buNone/>
            </a:pPr>
            <a:r>
              <a:rPr lang="en-US" sz="1500" dirty="0">
                <a:solidFill>
                  <a:schemeClr val="tx1"/>
                </a:solidFill>
              </a:rPr>
              <a:t>Application de gestion de cabinet</a:t>
            </a:r>
            <a:endParaRPr lang="en-US" sz="1500" dirty="0"/>
          </a:p>
        </p:txBody>
      </p:sp>
      <p:sp>
        <p:nvSpPr>
          <p:cNvPr id="29" name="Text 27"/>
          <p:cNvSpPr txBox="1"/>
          <p:nvPr/>
        </p:nvSpPr>
        <p:spPr>
          <a:xfrm>
            <a:off x="548640" y="4892040"/>
            <a:ext cx="8686800" cy="365760"/>
          </a:xfrm>
          <a:prstGeom prst="rect">
            <a:avLst/>
          </a:prstGeom>
          <a:noFill/>
          <a:ln/>
        </p:spPr>
        <p:txBody>
          <a:bodyPr wrap="square" lIns="0" tIns="0" rIns="0" bIns="0" rtlCol="0" anchor="t"/>
          <a:lstStyle/>
          <a:p>
            <a:pPr indent="0" marL="0">
              <a:buNone/>
            </a:pPr>
            <a:r>
              <a:rPr lang="en-US" sz="1500" dirty="0">
                <a:solidFill>
                  <a:schemeClr val="accent5"/>
                </a:solidFill>
              </a:rPr>
              <a:t>Avant le BTS : handball en National 1, puis la restauration, le management et le paysagisme.</a:t>
            </a:r>
            <a:endParaRPr lang="en-US" sz="1500" dirty="0"/>
          </a:p>
        </p:txBody>
      </p:sp>
      <p:sp>
        <p:nvSpPr>
          <p:cNvPr id="30" name="Pastille"/>
          <p:cNvSpPr/>
          <p:nvPr/>
        </p:nvSpPr>
        <p:spPr>
          <a:xfrm>
            <a:off x="548640" y="5440680"/>
            <a:ext cx="1671523"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31" name="Pastille texte"/>
          <p:cNvSpPr txBox="1"/>
          <p:nvPr/>
        </p:nvSpPr>
        <p:spPr>
          <a:xfrm>
            <a:off x="548640" y="5440680"/>
            <a:ext cx="1671523" cy="347472"/>
          </a:xfrm>
          <a:prstGeom prst="rect">
            <a:avLst/>
          </a:prstGeom>
          <a:noFill/>
          <a:ln/>
        </p:spPr>
        <p:txBody>
          <a:bodyPr wrap="square" lIns="0" tIns="0" rIns="0" bIns="0" rtlCol="0" anchor="ctr"/>
          <a:lstStyle/>
          <a:p>
            <a:pPr algn="ctr" indent="0" marL="0">
              <a:buNone/>
            </a:pPr>
            <a:r>
              <a:rPr lang="en-US" sz="1250" b="1" dirty="0">
                <a:solidFill>
                  <a:schemeClr val="accent1"/>
                </a:solidFill>
              </a:rPr>
              <a:t>Une reconversion</a:t>
            </a:r>
            <a:endParaRPr lang="en-US" sz="1250" dirty="0"/>
          </a:p>
        </p:txBody>
      </p:sp>
      <p:sp>
        <p:nvSpPr>
          <p:cNvPr id="32" name="Pastille"/>
          <p:cNvSpPr/>
          <p:nvPr/>
        </p:nvSpPr>
        <p:spPr>
          <a:xfrm>
            <a:off x="2357323" y="5440680"/>
            <a:ext cx="3441802"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33" name="Pastille texte"/>
          <p:cNvSpPr txBox="1"/>
          <p:nvPr/>
        </p:nvSpPr>
        <p:spPr>
          <a:xfrm>
            <a:off x="2357323" y="5440680"/>
            <a:ext cx="3441802" cy="347472"/>
          </a:xfrm>
          <a:prstGeom prst="rect">
            <a:avLst/>
          </a:prstGeom>
          <a:noFill/>
          <a:ln/>
        </p:spPr>
        <p:txBody>
          <a:bodyPr wrap="square" lIns="0" tIns="0" rIns="0" bIns="0" rtlCol="0" anchor="ctr"/>
          <a:lstStyle/>
          <a:p>
            <a:pPr algn="ctr" indent="0" marL="0">
              <a:buNone/>
            </a:pPr>
            <a:r>
              <a:rPr lang="en-US" sz="1250" b="1" dirty="0">
                <a:solidFill>
                  <a:schemeClr val="accent1"/>
                </a:solidFill>
              </a:rPr>
              <a:t>Stage à temps plein en juillet et août</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LE TABLEAU DE SYNTHÈSE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Chaque compétence du bloc 1 est couverte</a:t>
            </a:r>
            <a:endParaRPr lang="en-US" sz="3400" dirty="0"/>
          </a:p>
        </p:txBody>
      </p:sp>
      <p:graphicFrame>
        <p:nvGraphicFramePr>
          <p:cNvPr id="4" name="Tableau de synthès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611880"/>
                <a:gridCol w="1243584"/>
                <a:gridCol w="1243584"/>
                <a:gridCol w="1243584"/>
                <a:gridCol w="1243584"/>
                <a:gridCol w="1243584"/>
                <a:gridCol w="1243584"/>
              </a:tblGrid>
              <a:tr h="457200">
                <a:tc>
                  <a:txBody>
                    <a:bodyPr/>
                    <a:lstStyle/>
                    <a:p>
                      <a:pPr algn="l" indent="0" marL="0">
                        <a:buNone/>
                      </a:pPr>
                      <a:r>
                        <a:rPr lang="en-US" sz="1200" b="1" dirty="0">
                          <a:solidFill>
                            <a:schemeClr val="accent5"/>
                          </a:solidFill>
                        </a:rPr>
                        <a:t>Réalisation</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accent5"/>
                          </a:solidFill>
                        </a:rPr>
                        <a:t>01  Patrimoine</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accent5"/>
                          </a:solidFill>
                        </a:rPr>
                        <a:t>02  Incidents</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accent5"/>
                          </a:solidFill>
                        </a:rPr>
                        <a:t>03  Présence en ligne</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accent5"/>
                          </a:solidFill>
                        </a:rPr>
                        <a:t>04  Mode projet</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accent5"/>
                          </a:solidFill>
                        </a:rPr>
                        <a:t>05  Mise à disposition</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200" b="1" dirty="0">
                          <a:solidFill>
                            <a:schemeClr val="accent5"/>
                          </a:solidFill>
                        </a:rPr>
                        <a:t>06  Dév. pro</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Gestion de cabinet</a:t>
                      </a:r>
                      <a:pPr indent="0" marL="0">
                        <a:buNone/>
                      </a:pPr>
                      <a:r>
                        <a:rPr lang="en-US" sz="1200" dirty="0">
                          <a:solidFill>
                            <a:schemeClr val="accent5"/>
                          </a:solidFill>
                        </a:rPr>
                        <a:t>   projet en cours</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c>
                  <a:txBody>
                    <a:bodyPr/>
                    <a:lstStyle/>
                    <a:p>
                      <a:pPr algn="ctr" indent="0" marL="0">
                        <a:buNone/>
                      </a:pPr>
                      <a:r>
                        <a:rPr lang="en-US" sz="1800" dirty="0">
                          <a:solidFill>
                            <a:schemeClr val="accent2"/>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c>
                  <a:txBody>
                    <a:bodyPr/>
                    <a:lstStyle/>
                    <a:p>
                      <a:pPr algn="ctr" indent="0" marL="0">
                        <a:buNone/>
                      </a:pPr>
                      <a:r>
                        <a:rPr lang="en-US" sz="1800" dirty="0">
                          <a:solidFill>
                            <a:schemeClr val="accent2"/>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c>
                  <a:txBody>
                    <a:bodyPr/>
                    <a:lstStyle/>
                    <a:p>
                      <a:pPr algn="ctr" indent="0" marL="0">
                        <a:buNone/>
                      </a:pPr>
                      <a:r>
                        <a:rPr lang="en-US" sz="1800" dirty="0">
                          <a:solidFill>
                            <a:schemeClr val="accent2"/>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c>
                  <a:txBody>
                    <a:bodyPr/>
                    <a:lstStyle/>
                    <a:p>
                      <a:pPr algn="ctr" indent="0" marL="0">
                        <a:buNone/>
                      </a:pPr>
                      <a:r>
                        <a:rPr lang="en-US" sz="1800" dirty="0">
                          <a:solidFill>
                            <a:schemeClr val="accent2"/>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F3E7"/>
                    </a:solidFill>
                  </a:tcPr>
                </a:tc>
              </a:tr>
              <a:tr h="457200">
                <a:tc>
                  <a:txBody>
                    <a:bodyPr/>
                    <a:lstStyle/>
                    <a:p>
                      <a:pPr indent="0" marL="0">
                        <a:buNone/>
                      </a:pPr>
                      <a:r>
                        <a:rPr lang="en-US" sz="1400" b="1" dirty="0">
                          <a:solidFill>
                            <a:schemeClr val="tx1"/>
                          </a:solidFill>
                        </a:rPr>
                        <a:t>SYNCRO</a:t>
                      </a:r>
                      <a:pPr indent="0" marL="0">
                        <a:buNone/>
                      </a:pPr>
                      <a:r>
                        <a:rPr lang="en-US" sz="1200" dirty="0">
                          <a:solidFill>
                            <a:schemeClr val="accent5"/>
                          </a:solidFill>
                        </a:rPr>
                        <a:t>   stage chez Suitime</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DECEC"/>
                    </a:solidFill>
                  </a:tcPr>
                </a:tc>
              </a:tr>
              <a:tr h="457200">
                <a:tc>
                  <a:txBody>
                    <a:bodyPr/>
                    <a:lstStyle/>
                    <a:p>
                      <a:pPr indent="0" marL="0">
                        <a:buNone/>
                      </a:pPr>
                      <a:r>
                        <a:rPr lang="en-US" sz="1400" b="1" dirty="0">
                          <a:solidFill>
                            <a:schemeClr val="tx1"/>
                          </a:solidFill>
                        </a:rPr>
                        <a:t>Pla'Net</a:t>
                      </a:r>
                      <a:pPr indent="0" marL="0">
                        <a:buNone/>
                      </a:pPr>
                      <a:r>
                        <a:rPr lang="en-US" sz="1200" dirty="0">
                          <a:solidFill>
                            <a:schemeClr val="accent5"/>
                          </a:solidFill>
                        </a:rPr>
                        <a:t>   projet à cinq</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CRP-Assurance</a:t>
                      </a:r>
                      <a:pPr indent="0" marL="0">
                        <a:buNone/>
                      </a:pPr>
                      <a:r>
                        <a:rPr lang="en-US" sz="1200" dirty="0">
                          <a:solidFill>
                            <a:schemeClr val="accent5"/>
                          </a:solidFill>
                        </a:rPr>
                        <a:t>   site client</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TP Linux avancé</a:t>
                      </a:r>
                      <a:pPr indent="0" marL="0">
                        <a:buNone/>
                      </a:pPr>
                      <a:r>
                        <a:rPr lang="en-US" sz="1200" dirty="0">
                          <a:solidFill>
                            <a:schemeClr val="accent5"/>
                          </a:solidFill>
                        </a:rPr>
                        <a:t>   TP0 à TP5</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AD et répartition de charge</a:t>
                      </a:r>
                      <a:pPr indent="0" marL="0">
                        <a:buNone/>
                      </a:pPr>
                      <a:r>
                        <a:rPr lang="en-US" sz="1200" dirty="0">
                          <a:solidFill>
                            <a:schemeClr val="accent5"/>
                          </a:solidFill>
                        </a:rPr>
                        <a:t>   Windows Server, Scaleway</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Parc informatique</a:t>
                      </a:r>
                      <a:pPr indent="0" marL="0">
                        <a:buNone/>
                      </a:pPr>
                      <a:r>
                        <a:rPr lang="en-US" sz="1200" dirty="0">
                          <a:solidFill>
                            <a:schemeClr val="accent5"/>
                          </a:solidFill>
                        </a:rPr>
                        <a:t>   GLPI, ITIL</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Audit SEO</a:t>
                      </a:r>
                      <a:pPr indent="0" marL="0">
                        <a:buNone/>
                      </a:pPr>
                      <a:r>
                        <a:rPr lang="en-US" sz="1200" dirty="0">
                          <a:solidFill>
                            <a:schemeClr val="accent5"/>
                          </a:solidFill>
                        </a:rPr>
                        <a:t>   deux sites</a:t>
                      </a: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400" b="1" dirty="0">
                          <a:solidFill>
                            <a:schemeClr val="tx1"/>
                          </a:solidFill>
                        </a:rPr>
                        <a:t>Veille et portfolio</a:t>
                      </a:r>
                      <a:pPr indent="0" marL="0">
                        <a:buNone/>
                      </a:pPr>
                      <a:endParaRPr lang="en-US" sz="14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103120"/>
            <a:ext cx="9144000" cy="365760"/>
          </a:xfrm>
          <a:prstGeom prst="rect">
            <a:avLst/>
          </a:prstGeom>
          <a:noFill/>
          <a:ln/>
        </p:spPr>
        <p:txBody>
          <a:bodyPr wrap="square" rtlCol="0"/>
          <a:lstStyle/>
          <a:p>
            <a:pPr indent="0" marL="0">
              <a:buNone/>
            </a:pPr>
            <a:r>
              <a:rPr lang="en-US" sz="1400" b="1" spc="200" kern="0" dirty="0">
                <a:solidFill>
                  <a:srgbClr val="F59E0B"/>
                </a:solidFill>
              </a:rPr>
              <a:t>PROJET PRINCIPAL · EN COURS</a:t>
            </a:r>
            <a:endParaRPr lang="en-US" sz="1400" dirty="0"/>
          </a:p>
        </p:txBody>
      </p:sp>
      <p:sp>
        <p:nvSpPr>
          <p:cNvPr id="3" name="Text 0"/>
          <p:cNvSpPr/>
          <p:nvPr>
            <p:ph idx="101" type="title" hasCustomPrompt="1"/>
          </p:nvPr>
        </p:nvSpPr>
        <p:spPr>
          <a:xfrm>
            <a:off x="548640" y="2560320"/>
            <a:ext cx="10515600" cy="1463040"/>
          </a:xfrm>
          <a:prstGeom prst="rect">
            <a:avLst/>
          </a:prstGeom>
          <a:noFill/>
          <a:ln/>
        </p:spPr>
        <p:txBody>
          <a:bodyPr wrap="square" rtlCol="0" anchor="t"/>
          <a:lstStyle/>
          <a:p>
            <a:pPr algn="l" indent="0" marL="0">
              <a:buNone/>
            </a:pPr>
            <a:r>
              <a:rPr lang="en-US" sz="4400" b="1" dirty="0">
                <a:solidFill>
                  <a:schemeClr val="bg1"/>
                </a:solidFill>
                <a:latin typeface="Arial" pitchFamily="34" charset="0"/>
                <a:ea typeface="Arial" pitchFamily="34" charset="-122"/>
                <a:cs typeface="Arial" pitchFamily="34" charset="-120"/>
              </a:rPr>
              <a:t>Une application de gestion pour les cabinets de courtage en assurance</a:t>
            </a:r>
            <a:endParaRPr lang="en-US" sz="4400" dirty="0"/>
          </a:p>
        </p:txBody>
      </p:sp>
      <p:sp>
        <p:nvSpPr>
          <p:cNvPr id="4" name="Text 0"/>
          <p:cNvSpPr/>
          <p:nvPr>
            <p:ph idx="102" type="body" hasCustomPrompt="1"/>
          </p:nvPr>
        </p:nvSpPr>
        <p:spPr>
          <a:xfrm>
            <a:off x="548640" y="4206240"/>
            <a:ext cx="9144000" cy="548640"/>
          </a:xfrm>
          <a:prstGeom prst="rect">
            <a:avLst/>
          </a:prstGeom>
          <a:noFill/>
          <a:ln/>
        </p:spPr>
        <p:txBody>
          <a:bodyPr wrap="square" rtlCol="0"/>
          <a:lstStyle/>
          <a:p>
            <a:pPr indent="0" marL="0">
              <a:buNone/>
            </a:pPr>
            <a:r>
              <a:rPr lang="en-US" sz="1800" dirty="0">
                <a:solidFill>
                  <a:srgbClr val="C9CBD3"/>
                </a:solidFill>
              </a:rPr>
              <a:t>Projet de deuxième année · conception terminée, développement en cours</a:t>
            </a:r>
            <a:endParaRPr lang="en-US" sz="180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LE BESOIN</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Le problème : tout est dispersé</a:t>
            </a:r>
            <a:endParaRPr lang="en-US" sz="3400" dirty="0"/>
          </a:p>
        </p:txBody>
      </p:sp>
      <p:sp>
        <p:nvSpPr>
          <p:cNvPr id="4" name="Numéro"/>
          <p:cNvSpPr/>
          <p:nvPr/>
        </p:nvSpPr>
        <p:spPr>
          <a:xfrm>
            <a:off x="548640" y="1682496"/>
            <a:ext cx="457200" cy="457200"/>
          </a:xfrm>
          <a:prstGeom prst="ellipse">
            <a:avLst/>
          </a:prstGeom>
          <a:solidFill>
            <a:schemeClr val="accent2">
              <a:alpha val="15000"/>
            </a:schemeClr>
          </a:solidFill>
          <a:ln w="12700">
            <a:solidFill>
              <a:schemeClr val="accent2"/>
            </a:solidFill>
            <a:prstDash val="solid"/>
          </a:ln>
        </p:spPr>
      </p:sp>
      <p:sp>
        <p:nvSpPr>
          <p:cNvPr id="5" name="Text 3"/>
          <p:cNvSpPr txBox="1"/>
          <p:nvPr/>
        </p:nvSpPr>
        <p:spPr>
          <a:xfrm>
            <a:off x="548640" y="1682496"/>
            <a:ext cx="457200" cy="457200"/>
          </a:xfrm>
          <a:prstGeom prst="rect">
            <a:avLst/>
          </a:prstGeom>
          <a:noFill/>
          <a:ln/>
        </p:spPr>
        <p:txBody>
          <a:bodyPr wrap="square" lIns="0" tIns="0" rIns="0" bIns="0" rtlCol="0" anchor="ctr"/>
          <a:lstStyle/>
          <a:p>
            <a:pPr algn="ctr" indent="0" marL="0">
              <a:buNone/>
            </a:pPr>
            <a:r>
              <a:rPr lang="en-US" sz="1600" b="1" dirty="0">
                <a:solidFill>
                  <a:schemeClr val="accent2"/>
                </a:solidFill>
              </a:rPr>
              <a:t>1</a:t>
            </a:r>
            <a:endParaRPr lang="en-US" sz="1600" dirty="0"/>
          </a:p>
        </p:txBody>
      </p:sp>
      <p:sp>
        <p:nvSpPr>
          <p:cNvPr id="6" name="Text 4"/>
          <p:cNvSpPr txBox="1"/>
          <p:nvPr/>
        </p:nvSpPr>
        <p:spPr>
          <a:xfrm>
            <a:off x="1234440" y="1645920"/>
            <a:ext cx="5486400" cy="320040"/>
          </a:xfrm>
          <a:prstGeom prst="rect">
            <a:avLst/>
          </a:prstGeom>
          <a:noFill/>
          <a:ln/>
        </p:spPr>
        <p:txBody>
          <a:bodyPr wrap="square" lIns="0" tIns="0" rIns="0" bIns="0" rtlCol="0" anchor="t"/>
          <a:lstStyle/>
          <a:p>
            <a:pPr indent="0" marL="0">
              <a:buNone/>
            </a:pPr>
            <a:r>
              <a:rPr lang="en-US" sz="1700" b="1" dirty="0">
                <a:solidFill>
                  <a:schemeClr val="tx1"/>
                </a:solidFill>
              </a:rPr>
              <a:t>Informations dispersées</a:t>
            </a:r>
            <a:endParaRPr lang="en-US" sz="1700" dirty="0"/>
          </a:p>
        </p:txBody>
      </p:sp>
      <p:sp>
        <p:nvSpPr>
          <p:cNvPr id="7" name="Text 5"/>
          <p:cNvSpPr txBox="1"/>
          <p:nvPr/>
        </p:nvSpPr>
        <p:spPr>
          <a:xfrm>
            <a:off x="1234440" y="1975104"/>
            <a:ext cx="5486400" cy="320040"/>
          </a:xfrm>
          <a:prstGeom prst="rect">
            <a:avLst/>
          </a:prstGeom>
          <a:noFill/>
          <a:ln/>
        </p:spPr>
        <p:txBody>
          <a:bodyPr wrap="square" lIns="0" tIns="0" rIns="0" bIns="0" rtlCol="0" anchor="t"/>
          <a:lstStyle/>
          <a:p>
            <a:pPr indent="0" marL="0">
              <a:buNone/>
            </a:pPr>
            <a:r>
              <a:rPr lang="en-US" sz="1400" dirty="0">
                <a:solidFill>
                  <a:schemeClr val="accent5"/>
                </a:solidFill>
              </a:rPr>
              <a:t>Sites des compagnies, fichiers Excel, e-mails</a:t>
            </a:r>
            <a:endParaRPr lang="en-US" sz="1400" dirty="0"/>
          </a:p>
        </p:txBody>
      </p:sp>
      <p:sp>
        <p:nvSpPr>
          <p:cNvPr id="8" name="Numéro"/>
          <p:cNvSpPr/>
          <p:nvPr/>
        </p:nvSpPr>
        <p:spPr>
          <a:xfrm>
            <a:off x="548640" y="2468880"/>
            <a:ext cx="457200" cy="457200"/>
          </a:xfrm>
          <a:prstGeom prst="ellipse">
            <a:avLst/>
          </a:prstGeom>
          <a:solidFill>
            <a:schemeClr val="accent2">
              <a:alpha val="15000"/>
            </a:schemeClr>
          </a:solidFill>
          <a:ln w="12700">
            <a:solidFill>
              <a:schemeClr val="accent2"/>
            </a:solidFill>
            <a:prstDash val="solid"/>
          </a:ln>
        </p:spPr>
      </p:sp>
      <p:sp>
        <p:nvSpPr>
          <p:cNvPr id="9" name="Text 7"/>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chemeClr val="accent2"/>
                </a:solidFill>
              </a:rPr>
              <a:t>2</a:t>
            </a:r>
            <a:endParaRPr lang="en-US" sz="1600" dirty="0"/>
          </a:p>
        </p:txBody>
      </p:sp>
      <p:sp>
        <p:nvSpPr>
          <p:cNvPr id="10" name="Text 8"/>
          <p:cNvSpPr txBox="1"/>
          <p:nvPr/>
        </p:nvSpPr>
        <p:spPr>
          <a:xfrm>
            <a:off x="1234440" y="2432304"/>
            <a:ext cx="5486400" cy="320040"/>
          </a:xfrm>
          <a:prstGeom prst="rect">
            <a:avLst/>
          </a:prstGeom>
          <a:noFill/>
          <a:ln/>
        </p:spPr>
        <p:txBody>
          <a:bodyPr wrap="square" lIns="0" tIns="0" rIns="0" bIns="0" rtlCol="0" anchor="t"/>
          <a:lstStyle/>
          <a:p>
            <a:pPr indent="0" marL="0">
              <a:buNone/>
            </a:pPr>
            <a:r>
              <a:rPr lang="en-US" sz="1700" b="1" dirty="0">
                <a:solidFill>
                  <a:schemeClr val="tx1"/>
                </a:solidFill>
              </a:rPr>
              <a:t>Commissions difficiles à suivre</a:t>
            </a:r>
            <a:endParaRPr lang="en-US" sz="1700" dirty="0"/>
          </a:p>
        </p:txBody>
      </p:sp>
      <p:sp>
        <p:nvSpPr>
          <p:cNvPr id="11" name="Text 9"/>
          <p:cNvSpPr txBox="1"/>
          <p:nvPr/>
        </p:nvSpPr>
        <p:spPr>
          <a:xfrm>
            <a:off x="1234440" y="2761488"/>
            <a:ext cx="5486400" cy="320040"/>
          </a:xfrm>
          <a:prstGeom prst="rect">
            <a:avLst/>
          </a:prstGeom>
          <a:noFill/>
          <a:ln/>
        </p:spPr>
        <p:txBody>
          <a:bodyPr wrap="square" lIns="0" tIns="0" rIns="0" bIns="0" rtlCol="0" anchor="t"/>
          <a:lstStyle/>
          <a:p>
            <a:pPr indent="0" marL="0">
              <a:buNone/>
            </a:pPr>
            <a:r>
              <a:rPr lang="en-US" sz="1400" dirty="0">
                <a:solidFill>
                  <a:schemeClr val="accent5"/>
                </a:solidFill>
              </a:rPr>
              <a:t>Ce qui est dû, ce qui est perçu, ce qui manque</a:t>
            </a:r>
            <a:endParaRPr lang="en-US" sz="1400" dirty="0"/>
          </a:p>
        </p:txBody>
      </p:sp>
      <p:sp>
        <p:nvSpPr>
          <p:cNvPr id="12" name="Numéro"/>
          <p:cNvSpPr/>
          <p:nvPr/>
        </p:nvSpPr>
        <p:spPr>
          <a:xfrm>
            <a:off x="548640" y="3255264"/>
            <a:ext cx="457200" cy="457200"/>
          </a:xfrm>
          <a:prstGeom prst="ellipse">
            <a:avLst/>
          </a:prstGeom>
          <a:solidFill>
            <a:schemeClr val="accent2">
              <a:alpha val="15000"/>
            </a:schemeClr>
          </a:solidFill>
          <a:ln w="12700">
            <a:solidFill>
              <a:schemeClr val="accent2"/>
            </a:solidFill>
            <a:prstDash val="solid"/>
          </a:ln>
        </p:spPr>
      </p:sp>
      <p:sp>
        <p:nvSpPr>
          <p:cNvPr id="13" name="Text 11"/>
          <p:cNvSpPr txBox="1"/>
          <p:nvPr/>
        </p:nvSpPr>
        <p:spPr>
          <a:xfrm>
            <a:off x="548640" y="3255264"/>
            <a:ext cx="457200" cy="457200"/>
          </a:xfrm>
          <a:prstGeom prst="rect">
            <a:avLst/>
          </a:prstGeom>
          <a:noFill/>
          <a:ln/>
        </p:spPr>
        <p:txBody>
          <a:bodyPr wrap="square" lIns="0" tIns="0" rIns="0" bIns="0" rtlCol="0" anchor="ctr"/>
          <a:lstStyle/>
          <a:p>
            <a:pPr algn="ctr" indent="0" marL="0">
              <a:buNone/>
            </a:pPr>
            <a:r>
              <a:rPr lang="en-US" sz="1600" b="1" dirty="0">
                <a:solidFill>
                  <a:schemeClr val="accent2"/>
                </a:solidFill>
              </a:rPr>
              <a:t>3</a:t>
            </a:r>
            <a:endParaRPr lang="en-US" sz="1600" dirty="0"/>
          </a:p>
        </p:txBody>
      </p:sp>
      <p:sp>
        <p:nvSpPr>
          <p:cNvPr id="14" name="Text 12"/>
          <p:cNvSpPr txBox="1"/>
          <p:nvPr/>
        </p:nvSpPr>
        <p:spPr>
          <a:xfrm>
            <a:off x="1234440" y="3218688"/>
            <a:ext cx="5486400" cy="320040"/>
          </a:xfrm>
          <a:prstGeom prst="rect">
            <a:avLst/>
          </a:prstGeom>
          <a:noFill/>
          <a:ln/>
        </p:spPr>
        <p:txBody>
          <a:bodyPr wrap="square" lIns="0" tIns="0" rIns="0" bIns="0" rtlCol="0" anchor="t"/>
          <a:lstStyle/>
          <a:p>
            <a:pPr indent="0" marL="0">
              <a:buNone/>
            </a:pPr>
            <a:r>
              <a:rPr lang="en-US" sz="1700" b="1" dirty="0">
                <a:solidFill>
                  <a:schemeClr val="tx1"/>
                </a:solidFill>
              </a:rPr>
              <a:t>Suivi manuel des dossiers</a:t>
            </a:r>
            <a:endParaRPr lang="en-US" sz="1700" dirty="0"/>
          </a:p>
        </p:txBody>
      </p:sp>
      <p:sp>
        <p:nvSpPr>
          <p:cNvPr id="15" name="Text 13"/>
          <p:cNvSpPr txBox="1"/>
          <p:nvPr/>
        </p:nvSpPr>
        <p:spPr>
          <a:xfrm>
            <a:off x="1234440" y="3547872"/>
            <a:ext cx="5486400" cy="320040"/>
          </a:xfrm>
          <a:prstGeom prst="rect">
            <a:avLst/>
          </a:prstGeom>
          <a:noFill/>
          <a:ln/>
        </p:spPr>
        <p:txBody>
          <a:bodyPr wrap="square" lIns="0" tIns="0" rIns="0" bIns="0" rtlCol="0" anchor="t"/>
          <a:lstStyle/>
          <a:p>
            <a:pPr indent="0" marL="0">
              <a:buNone/>
            </a:pPr>
            <a:r>
              <a:rPr lang="en-US" sz="1400" dirty="0">
                <a:solidFill>
                  <a:schemeClr val="accent5"/>
                </a:solidFill>
              </a:rPr>
              <a:t>Un site par compagnie pour savoir où en est un contrat</a:t>
            </a:r>
            <a:endParaRPr lang="en-US" sz="1400" dirty="0"/>
          </a:p>
        </p:txBody>
      </p:sp>
      <p:sp>
        <p:nvSpPr>
          <p:cNvPr id="16" name="Numéro"/>
          <p:cNvSpPr/>
          <p:nvPr/>
        </p:nvSpPr>
        <p:spPr>
          <a:xfrm>
            <a:off x="548640" y="4041648"/>
            <a:ext cx="457200" cy="457200"/>
          </a:xfrm>
          <a:prstGeom prst="ellipse">
            <a:avLst/>
          </a:prstGeom>
          <a:solidFill>
            <a:schemeClr val="accent2">
              <a:alpha val="15000"/>
            </a:schemeClr>
          </a:solidFill>
          <a:ln w="12700">
            <a:solidFill>
              <a:schemeClr val="accent2"/>
            </a:solidFill>
            <a:prstDash val="solid"/>
          </a:ln>
        </p:spPr>
      </p:sp>
      <p:sp>
        <p:nvSpPr>
          <p:cNvPr id="17" name="Text 15"/>
          <p:cNvSpPr txBox="1"/>
          <p:nvPr/>
        </p:nvSpPr>
        <p:spPr>
          <a:xfrm>
            <a:off x="548640" y="4041648"/>
            <a:ext cx="457200" cy="457200"/>
          </a:xfrm>
          <a:prstGeom prst="rect">
            <a:avLst/>
          </a:prstGeom>
          <a:noFill/>
          <a:ln/>
        </p:spPr>
        <p:txBody>
          <a:bodyPr wrap="square" lIns="0" tIns="0" rIns="0" bIns="0" rtlCol="0" anchor="ctr"/>
          <a:lstStyle/>
          <a:p>
            <a:pPr algn="ctr" indent="0" marL="0">
              <a:buNone/>
            </a:pPr>
            <a:r>
              <a:rPr lang="en-US" sz="1600" b="1" dirty="0">
                <a:solidFill>
                  <a:schemeClr val="accent2"/>
                </a:solidFill>
              </a:rPr>
              <a:t>4</a:t>
            </a:r>
            <a:endParaRPr lang="en-US" sz="1600" dirty="0"/>
          </a:p>
        </p:txBody>
      </p:sp>
      <p:sp>
        <p:nvSpPr>
          <p:cNvPr id="18" name="Text 16"/>
          <p:cNvSpPr txBox="1"/>
          <p:nvPr/>
        </p:nvSpPr>
        <p:spPr>
          <a:xfrm>
            <a:off x="1234440" y="4005072"/>
            <a:ext cx="5486400" cy="320040"/>
          </a:xfrm>
          <a:prstGeom prst="rect">
            <a:avLst/>
          </a:prstGeom>
          <a:noFill/>
          <a:ln/>
        </p:spPr>
        <p:txBody>
          <a:bodyPr wrap="square" lIns="0" tIns="0" rIns="0" bIns="0" rtlCol="0" anchor="t"/>
          <a:lstStyle/>
          <a:p>
            <a:pPr indent="0" marL="0">
              <a:buNone/>
            </a:pPr>
            <a:r>
              <a:rPr lang="en-US" sz="1700" b="1" dirty="0">
                <a:solidFill>
                  <a:schemeClr val="tx1"/>
                </a:solidFill>
              </a:rPr>
              <a:t>Relances non automatisées</a:t>
            </a:r>
            <a:endParaRPr lang="en-US" sz="1700" dirty="0"/>
          </a:p>
        </p:txBody>
      </p:sp>
      <p:sp>
        <p:nvSpPr>
          <p:cNvPr id="19" name="Text 17"/>
          <p:cNvSpPr txBox="1"/>
          <p:nvPr/>
        </p:nvSpPr>
        <p:spPr>
          <a:xfrm>
            <a:off x="1234440" y="4334256"/>
            <a:ext cx="5486400" cy="320040"/>
          </a:xfrm>
          <a:prstGeom prst="rect">
            <a:avLst/>
          </a:prstGeom>
          <a:noFill/>
          <a:ln/>
        </p:spPr>
        <p:txBody>
          <a:bodyPr wrap="square" lIns="0" tIns="0" rIns="0" bIns="0" rtlCol="0" anchor="t"/>
          <a:lstStyle/>
          <a:p>
            <a:pPr indent="0" marL="0">
              <a:buNone/>
            </a:pPr>
            <a:r>
              <a:rPr lang="en-US" sz="1400" dirty="0">
                <a:solidFill>
                  <a:schemeClr val="accent5"/>
                </a:solidFill>
              </a:rPr>
              <a:t>Pièces manquantes et échéances : de mémoire</a:t>
            </a:r>
            <a:endParaRPr lang="en-US" sz="1400" dirty="0"/>
          </a:p>
        </p:txBody>
      </p:sp>
      <p:sp>
        <p:nvSpPr>
          <p:cNvPr id="20" name="Numéro"/>
          <p:cNvSpPr/>
          <p:nvPr/>
        </p:nvSpPr>
        <p:spPr>
          <a:xfrm>
            <a:off x="548640" y="4828032"/>
            <a:ext cx="457200" cy="457200"/>
          </a:xfrm>
          <a:prstGeom prst="ellipse">
            <a:avLst/>
          </a:prstGeom>
          <a:solidFill>
            <a:schemeClr val="accent2">
              <a:alpha val="15000"/>
            </a:schemeClr>
          </a:solidFill>
          <a:ln w="12700">
            <a:solidFill>
              <a:schemeClr val="accent2"/>
            </a:solidFill>
            <a:prstDash val="solid"/>
          </a:ln>
        </p:spPr>
      </p:sp>
      <p:sp>
        <p:nvSpPr>
          <p:cNvPr id="21" name="Text 19"/>
          <p:cNvSpPr txBox="1"/>
          <p:nvPr/>
        </p:nvSpPr>
        <p:spPr>
          <a:xfrm>
            <a:off x="548640" y="4828032"/>
            <a:ext cx="457200" cy="457200"/>
          </a:xfrm>
          <a:prstGeom prst="rect">
            <a:avLst/>
          </a:prstGeom>
          <a:noFill/>
          <a:ln/>
        </p:spPr>
        <p:txBody>
          <a:bodyPr wrap="square" lIns="0" tIns="0" rIns="0" bIns="0" rtlCol="0" anchor="ctr"/>
          <a:lstStyle/>
          <a:p>
            <a:pPr algn="ctr" indent="0" marL="0">
              <a:buNone/>
            </a:pPr>
            <a:r>
              <a:rPr lang="en-US" sz="1600" b="1" dirty="0">
                <a:solidFill>
                  <a:schemeClr val="accent2"/>
                </a:solidFill>
              </a:rPr>
              <a:t>5</a:t>
            </a:r>
            <a:endParaRPr lang="en-US" sz="1600" dirty="0"/>
          </a:p>
        </p:txBody>
      </p:sp>
      <p:sp>
        <p:nvSpPr>
          <p:cNvPr id="22" name="Text 20"/>
          <p:cNvSpPr txBox="1"/>
          <p:nvPr/>
        </p:nvSpPr>
        <p:spPr>
          <a:xfrm>
            <a:off x="1234440" y="4791456"/>
            <a:ext cx="5486400" cy="320040"/>
          </a:xfrm>
          <a:prstGeom prst="rect">
            <a:avLst/>
          </a:prstGeom>
          <a:noFill/>
          <a:ln/>
        </p:spPr>
        <p:txBody>
          <a:bodyPr wrap="square" lIns="0" tIns="0" rIns="0" bIns="0" rtlCol="0" anchor="t"/>
          <a:lstStyle/>
          <a:p>
            <a:pPr indent="0" marL="0">
              <a:buNone/>
            </a:pPr>
            <a:r>
              <a:rPr lang="en-US" sz="1700" b="1" dirty="0">
                <a:solidFill>
                  <a:schemeClr val="tx1"/>
                </a:solidFill>
              </a:rPr>
              <a:t>Aucune vue d'ensemble</a:t>
            </a:r>
            <a:endParaRPr lang="en-US" sz="1700" dirty="0"/>
          </a:p>
        </p:txBody>
      </p:sp>
      <p:sp>
        <p:nvSpPr>
          <p:cNvPr id="23" name="Text 21"/>
          <p:cNvSpPr txBox="1"/>
          <p:nvPr/>
        </p:nvSpPr>
        <p:spPr>
          <a:xfrm>
            <a:off x="1234440" y="5120640"/>
            <a:ext cx="5486400" cy="320040"/>
          </a:xfrm>
          <a:prstGeom prst="rect">
            <a:avLst/>
          </a:prstGeom>
          <a:noFill/>
          <a:ln/>
        </p:spPr>
        <p:txBody>
          <a:bodyPr wrap="square" lIns="0" tIns="0" rIns="0" bIns="0" rtlCol="0" anchor="t"/>
          <a:lstStyle/>
          <a:p>
            <a:pPr indent="0" marL="0">
              <a:buNone/>
            </a:pPr>
            <a:r>
              <a:rPr lang="en-US" sz="1400" dirty="0">
                <a:solidFill>
                  <a:schemeClr val="accent5"/>
                </a:solidFill>
              </a:rPr>
              <a:t>Pas de tableau de bord pour le gérant</a:t>
            </a:r>
            <a:endParaRPr lang="en-US" sz="1400" dirty="0"/>
          </a:p>
        </p:txBody>
      </p:sp>
      <p:sp>
        <p:nvSpPr>
          <p:cNvPr id="24" name="Carte"/>
          <p:cNvSpPr/>
          <p:nvPr/>
        </p:nvSpPr>
        <p:spPr>
          <a:xfrm>
            <a:off x="7086600" y="1645920"/>
            <a:ext cx="4553712" cy="3291840"/>
          </a:xfrm>
          <a:prstGeom prst="roundRect">
            <a:avLst>
              <a:gd name="adj" fmla="val 3333"/>
            </a:avLst>
          </a:prstGeom>
          <a:solidFill>
            <a:srgbClr val="0B0D13"/>
          </a:solidFill>
          <a:ln w="12700">
            <a:solidFill>
              <a:srgbClr val="0B0D13"/>
            </a:solidFill>
            <a:prstDash val="solid"/>
          </a:ln>
          <a:effectLst>
            <a:outerShdw sx="100000" sy="100000" kx="0" ky="0" algn="bl" rotWithShape="0" blurRad="127000" dist="25400" dir="5400000">
              <a:srgbClr val="12141B">
                <a:alpha val="12000"/>
              </a:srgbClr>
            </a:outerShdw>
          </a:effectLst>
        </p:spPr>
      </p:sp>
      <p:sp>
        <p:nvSpPr>
          <p:cNvPr id="25" name="Text 23"/>
          <p:cNvSpPr txBox="1"/>
          <p:nvPr/>
        </p:nvSpPr>
        <p:spPr>
          <a:xfrm>
            <a:off x="7406640" y="1920240"/>
            <a:ext cx="3931920" cy="274320"/>
          </a:xfrm>
          <a:prstGeom prst="rect">
            <a:avLst/>
          </a:prstGeom>
          <a:noFill/>
          <a:ln/>
        </p:spPr>
        <p:txBody>
          <a:bodyPr wrap="square" lIns="0" tIns="0" rIns="0" bIns="0" rtlCol="0" anchor="t"/>
          <a:lstStyle/>
          <a:p>
            <a:pPr indent="0" marL="0">
              <a:buNone/>
            </a:pPr>
            <a:r>
              <a:rPr lang="en-US" sz="1200" b="1" spc="200" kern="0" dirty="0">
                <a:solidFill>
                  <a:srgbClr val="F59E0B"/>
                </a:solidFill>
              </a:rPr>
              <a:t>LA PROBLÉMATIQUE</a:t>
            </a:r>
            <a:endParaRPr lang="en-US" sz="1200" dirty="0"/>
          </a:p>
        </p:txBody>
      </p:sp>
      <p:sp>
        <p:nvSpPr>
          <p:cNvPr id="26" name="Text 24"/>
          <p:cNvSpPr txBox="1"/>
          <p:nvPr/>
        </p:nvSpPr>
        <p:spPr>
          <a:xfrm>
            <a:off x="7406640" y="2331720"/>
            <a:ext cx="3931920" cy="237744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Comment permettre à un cabinet et à ses mandataires de suivre leurs clients, leurs contrats et leurs commissions depuis un outil unique ?</a:t>
            </a:r>
            <a:endParaRPr lang="en-US" sz="2100" dirty="0"/>
          </a:p>
        </p:txBody>
      </p:sp>
      <p:sp>
        <p:nvSpPr>
          <p:cNvPr id="27" name="Pastille"/>
          <p:cNvSpPr/>
          <p:nvPr/>
        </p:nvSpPr>
        <p:spPr>
          <a:xfrm>
            <a:off x="548640" y="5715000"/>
            <a:ext cx="1912925"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28" name="Pastille texte"/>
          <p:cNvSpPr txBox="1"/>
          <p:nvPr/>
        </p:nvSpPr>
        <p:spPr>
          <a:xfrm>
            <a:off x="548640" y="5715000"/>
            <a:ext cx="1912925" cy="347472"/>
          </a:xfrm>
          <a:prstGeom prst="rect">
            <a:avLst/>
          </a:prstGeom>
          <a:noFill/>
          <a:ln/>
        </p:spPr>
        <p:txBody>
          <a:bodyPr wrap="square" lIns="0" tIns="0" rIns="0" bIns="0" rtlCol="0" anchor="ctr"/>
          <a:lstStyle/>
          <a:p>
            <a:pPr algn="ctr" indent="0" marL="0">
              <a:buNone/>
            </a:pPr>
            <a:r>
              <a:rPr lang="en-US" sz="1250" b="1" dirty="0">
                <a:solidFill>
                  <a:schemeClr val="accent2"/>
                </a:solidFill>
              </a:rPr>
              <a:t>Commission partagée</a:t>
            </a:r>
            <a:endParaRPr lang="en-US" sz="1250" dirty="0"/>
          </a:p>
        </p:txBody>
      </p:sp>
      <p:sp>
        <p:nvSpPr>
          <p:cNvPr id="29" name="Pastille"/>
          <p:cNvSpPr/>
          <p:nvPr/>
        </p:nvSpPr>
        <p:spPr>
          <a:xfrm>
            <a:off x="2598725" y="5715000"/>
            <a:ext cx="1349654"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30" name="Pastille texte"/>
          <p:cNvSpPr txBox="1"/>
          <p:nvPr/>
        </p:nvSpPr>
        <p:spPr>
          <a:xfrm>
            <a:off x="2598725" y="5715000"/>
            <a:ext cx="1349654" cy="347472"/>
          </a:xfrm>
          <a:prstGeom prst="rect">
            <a:avLst/>
          </a:prstGeom>
          <a:noFill/>
          <a:ln/>
        </p:spPr>
        <p:txBody>
          <a:bodyPr wrap="square" lIns="0" tIns="0" rIns="0" bIns="0" rtlCol="0" anchor="ctr"/>
          <a:lstStyle/>
          <a:p>
            <a:pPr algn="ctr" indent="0" marL="0">
              <a:buNone/>
            </a:pPr>
            <a:r>
              <a:rPr lang="en-US" sz="1250" b="1" dirty="0">
                <a:solidFill>
                  <a:schemeClr val="accent2"/>
                </a:solidFill>
              </a:rPr>
              <a:t>Numéro ORIAS</a:t>
            </a:r>
            <a:endParaRPr lang="en-US" sz="1250" dirty="0"/>
          </a:p>
        </p:txBody>
      </p:sp>
      <p:sp>
        <p:nvSpPr>
          <p:cNvPr id="31" name="Pastille"/>
          <p:cNvSpPr/>
          <p:nvPr/>
        </p:nvSpPr>
        <p:spPr>
          <a:xfrm>
            <a:off x="4085539" y="5715000"/>
            <a:ext cx="1751990"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32" name="Pastille texte"/>
          <p:cNvSpPr txBox="1"/>
          <p:nvPr/>
        </p:nvSpPr>
        <p:spPr>
          <a:xfrm>
            <a:off x="4085539" y="5715000"/>
            <a:ext cx="1751990" cy="347472"/>
          </a:xfrm>
          <a:prstGeom prst="rect">
            <a:avLst/>
          </a:prstGeom>
          <a:noFill/>
          <a:ln/>
        </p:spPr>
        <p:txBody>
          <a:bodyPr wrap="square" lIns="0" tIns="0" rIns="0" bIns="0" rtlCol="0" anchor="ctr"/>
          <a:lstStyle/>
          <a:p>
            <a:pPr algn="ctr" indent="0" marL="0">
              <a:buNone/>
            </a:pPr>
            <a:r>
              <a:rPr lang="en-US" sz="1250" b="1" dirty="0">
                <a:solidFill>
                  <a:schemeClr val="accent2"/>
                </a:solidFill>
              </a:rPr>
              <a:t>Pour tout cabinet</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UTILISATEURS ET FONCTIONNALITÉS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Deux rôles, dix fonctionnalités</a:t>
            </a:r>
            <a:endParaRPr lang="en-US" sz="3400" dirty="0"/>
          </a:p>
        </p:txBody>
      </p:sp>
      <p:sp>
        <p:nvSpPr>
          <p:cNvPr id="4" name="Carte"/>
          <p:cNvSpPr/>
          <p:nvPr/>
        </p:nvSpPr>
        <p:spPr>
          <a:xfrm>
            <a:off x="548640" y="1645920"/>
            <a:ext cx="4206240" cy="1691640"/>
          </a:xfrm>
          <a:prstGeom prst="roundRect">
            <a:avLst>
              <a:gd name="adj" fmla="val 648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5" name="Text 3"/>
          <p:cNvSpPr txBox="1"/>
          <p:nvPr/>
        </p:nvSpPr>
        <p:spPr>
          <a:xfrm>
            <a:off x="777240" y="1828800"/>
            <a:ext cx="1463040" cy="41148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Admin</a:t>
            </a:r>
            <a:endParaRPr lang="en-US" sz="2200" dirty="0"/>
          </a:p>
        </p:txBody>
      </p:sp>
      <p:sp>
        <p:nvSpPr>
          <p:cNvPr id="6" name="Text 4"/>
          <p:cNvSpPr txBox="1"/>
          <p:nvPr/>
        </p:nvSpPr>
        <p:spPr>
          <a:xfrm>
            <a:off x="2057400" y="1892808"/>
            <a:ext cx="2560320" cy="365760"/>
          </a:xfrm>
          <a:prstGeom prst="rect">
            <a:avLst/>
          </a:prstGeom>
          <a:noFill/>
          <a:ln/>
        </p:spPr>
        <p:txBody>
          <a:bodyPr wrap="square" lIns="0" tIns="0" rIns="0" bIns="0" rtlCol="0" anchor="t"/>
          <a:lstStyle/>
          <a:p>
            <a:pPr indent="0" marL="0">
              <a:buNone/>
            </a:pPr>
            <a:r>
              <a:rPr lang="en-US" sz="1500" b="1" dirty="0">
                <a:solidFill>
                  <a:schemeClr val="tx1"/>
                </a:solidFill>
              </a:rPr>
              <a:t>Le gérant du cabinet</a:t>
            </a:r>
            <a:endParaRPr lang="en-US" sz="1500" dirty="0"/>
          </a:p>
        </p:txBody>
      </p:sp>
      <p:sp>
        <p:nvSpPr>
          <p:cNvPr id="7" name="Text 5"/>
          <p:cNvSpPr txBox="1"/>
          <p:nvPr/>
        </p:nvSpPr>
        <p:spPr>
          <a:xfrm>
            <a:off x="777240" y="2331720"/>
            <a:ext cx="3749040" cy="914400"/>
          </a:xfrm>
          <a:prstGeom prst="rect">
            <a:avLst/>
          </a:prstGeom>
          <a:noFill/>
          <a:ln/>
        </p:spPr>
        <p:txBody>
          <a:bodyPr wrap="square" lIns="0" tIns="0" rIns="0" bIns="0" rtlCol="0" anchor="t"/>
          <a:lstStyle/>
          <a:p>
            <a:pPr indent="0" marL="0">
              <a:buNone/>
            </a:pPr>
            <a:r>
              <a:rPr lang="en-US" sz="1400" dirty="0">
                <a:solidFill>
                  <a:schemeClr val="accent5"/>
                </a:solidFill>
              </a:rPr>
              <a:t>Paramètre le cabinet, crée les comptes, voit tous les clients et contrats, saisit les commissions reçues.</a:t>
            </a:r>
            <a:endParaRPr lang="en-US" sz="1400" dirty="0"/>
          </a:p>
        </p:txBody>
      </p:sp>
      <p:sp>
        <p:nvSpPr>
          <p:cNvPr id="8" name="Carte"/>
          <p:cNvSpPr/>
          <p:nvPr/>
        </p:nvSpPr>
        <p:spPr>
          <a:xfrm>
            <a:off x="548640" y="3520440"/>
            <a:ext cx="4206240" cy="1691640"/>
          </a:xfrm>
          <a:prstGeom prst="roundRect">
            <a:avLst>
              <a:gd name="adj" fmla="val 648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9" name="Text 7"/>
          <p:cNvSpPr txBox="1"/>
          <p:nvPr/>
        </p:nvSpPr>
        <p:spPr>
          <a:xfrm>
            <a:off x="777240" y="3703320"/>
            <a:ext cx="1463040" cy="41148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User</a:t>
            </a:r>
            <a:endParaRPr lang="en-US" sz="2200" dirty="0"/>
          </a:p>
        </p:txBody>
      </p:sp>
      <p:sp>
        <p:nvSpPr>
          <p:cNvPr id="10" name="Text 8"/>
          <p:cNvSpPr txBox="1"/>
          <p:nvPr/>
        </p:nvSpPr>
        <p:spPr>
          <a:xfrm>
            <a:off x="2057400" y="3767328"/>
            <a:ext cx="2560320" cy="365760"/>
          </a:xfrm>
          <a:prstGeom prst="rect">
            <a:avLst/>
          </a:prstGeom>
          <a:noFill/>
          <a:ln/>
        </p:spPr>
        <p:txBody>
          <a:bodyPr wrap="square" lIns="0" tIns="0" rIns="0" bIns="0" rtlCol="0" anchor="t"/>
          <a:lstStyle/>
          <a:p>
            <a:pPr indent="0" marL="0">
              <a:buNone/>
            </a:pPr>
            <a:r>
              <a:rPr lang="en-US" sz="1500" b="1" dirty="0">
                <a:solidFill>
                  <a:schemeClr val="tx1"/>
                </a:solidFill>
              </a:rPr>
              <a:t>Le mandataire</a:t>
            </a:r>
            <a:endParaRPr lang="en-US" sz="1500" dirty="0"/>
          </a:p>
        </p:txBody>
      </p:sp>
      <p:sp>
        <p:nvSpPr>
          <p:cNvPr id="11" name="Text 9"/>
          <p:cNvSpPr txBox="1"/>
          <p:nvPr/>
        </p:nvSpPr>
        <p:spPr>
          <a:xfrm>
            <a:off x="777240" y="4206240"/>
            <a:ext cx="3749040" cy="914400"/>
          </a:xfrm>
          <a:prstGeom prst="rect">
            <a:avLst/>
          </a:prstGeom>
          <a:noFill/>
          <a:ln/>
        </p:spPr>
        <p:txBody>
          <a:bodyPr wrap="square" lIns="0" tIns="0" rIns="0" bIns="0" rtlCol="0" anchor="t"/>
          <a:lstStyle/>
          <a:p>
            <a:pPr indent="0" marL="0">
              <a:buNone/>
            </a:pPr>
            <a:r>
              <a:rPr lang="en-US" sz="1400" dirty="0">
                <a:solidFill>
                  <a:schemeClr val="accent5"/>
                </a:solidFill>
              </a:rPr>
              <a:t>Gère ses propres clients et contrats, ajoute des documents, suit ses commissions et ses alertes.</a:t>
            </a:r>
            <a:endParaRPr lang="en-US" sz="1400" dirty="0"/>
          </a:p>
        </p:txBody>
      </p:sp>
      <p:sp>
        <p:nvSpPr>
          <p:cNvPr id="12" name="Carte"/>
          <p:cNvSpPr/>
          <p:nvPr/>
        </p:nvSpPr>
        <p:spPr>
          <a:xfrm>
            <a:off x="5074920" y="1645920"/>
            <a:ext cx="3154680" cy="603504"/>
          </a:xfrm>
          <a:prstGeom prst="roundRect">
            <a:avLst>
              <a:gd name="adj" fmla="val 18182"/>
            </a:avLst>
          </a:prstGeom>
          <a:solidFill>
            <a:schemeClr val="bg2"/>
          </a:solidFill>
          <a:ln w="12700">
            <a:solidFill>
              <a:schemeClr val="bg2"/>
            </a:solidFill>
            <a:prstDash val="solid"/>
          </a:ln>
        </p:spPr>
      </p:sp>
      <p:sp>
        <p:nvSpPr>
          <p:cNvPr id="13" name="Text 11"/>
          <p:cNvSpPr txBox="1"/>
          <p:nvPr/>
        </p:nvSpPr>
        <p:spPr>
          <a:xfrm>
            <a:off x="5257800" y="164592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01</a:t>
            </a:r>
            <a:endParaRPr lang="en-US" sz="1300" dirty="0"/>
          </a:p>
        </p:txBody>
      </p:sp>
      <p:sp>
        <p:nvSpPr>
          <p:cNvPr id="14" name="Text 12"/>
          <p:cNvSpPr txBox="1"/>
          <p:nvPr/>
        </p:nvSpPr>
        <p:spPr>
          <a:xfrm>
            <a:off x="5715000" y="164592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Connexion et rôles</a:t>
            </a:r>
            <a:endParaRPr lang="en-US" sz="1500" dirty="0"/>
          </a:p>
        </p:txBody>
      </p:sp>
      <p:sp>
        <p:nvSpPr>
          <p:cNvPr id="15" name="Carte"/>
          <p:cNvSpPr/>
          <p:nvPr/>
        </p:nvSpPr>
        <p:spPr>
          <a:xfrm>
            <a:off x="8366760" y="1645920"/>
            <a:ext cx="3154680" cy="603504"/>
          </a:xfrm>
          <a:prstGeom prst="roundRect">
            <a:avLst>
              <a:gd name="adj" fmla="val 18182"/>
            </a:avLst>
          </a:prstGeom>
          <a:solidFill>
            <a:schemeClr val="bg2"/>
          </a:solidFill>
          <a:ln w="12700">
            <a:solidFill>
              <a:schemeClr val="bg2"/>
            </a:solidFill>
            <a:prstDash val="solid"/>
          </a:ln>
        </p:spPr>
      </p:sp>
      <p:sp>
        <p:nvSpPr>
          <p:cNvPr id="16" name="Text 14"/>
          <p:cNvSpPr txBox="1"/>
          <p:nvPr/>
        </p:nvSpPr>
        <p:spPr>
          <a:xfrm>
            <a:off x="8549640" y="164592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02</a:t>
            </a:r>
            <a:endParaRPr lang="en-US" sz="1300" dirty="0"/>
          </a:p>
        </p:txBody>
      </p:sp>
      <p:sp>
        <p:nvSpPr>
          <p:cNvPr id="17" name="Text 15"/>
          <p:cNvSpPr txBox="1"/>
          <p:nvPr/>
        </p:nvSpPr>
        <p:spPr>
          <a:xfrm>
            <a:off x="9006840" y="164592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Clients</a:t>
            </a:r>
            <a:endParaRPr lang="en-US" sz="1500" dirty="0"/>
          </a:p>
        </p:txBody>
      </p:sp>
      <p:sp>
        <p:nvSpPr>
          <p:cNvPr id="18" name="Carte"/>
          <p:cNvSpPr/>
          <p:nvPr/>
        </p:nvSpPr>
        <p:spPr>
          <a:xfrm>
            <a:off x="5074920" y="2377440"/>
            <a:ext cx="3154680" cy="603504"/>
          </a:xfrm>
          <a:prstGeom prst="roundRect">
            <a:avLst>
              <a:gd name="adj" fmla="val 18182"/>
            </a:avLst>
          </a:prstGeom>
          <a:solidFill>
            <a:schemeClr val="bg2"/>
          </a:solidFill>
          <a:ln w="12700">
            <a:solidFill>
              <a:schemeClr val="bg2"/>
            </a:solidFill>
            <a:prstDash val="solid"/>
          </a:ln>
        </p:spPr>
      </p:sp>
      <p:sp>
        <p:nvSpPr>
          <p:cNvPr id="19" name="Text 17"/>
          <p:cNvSpPr txBox="1"/>
          <p:nvPr/>
        </p:nvSpPr>
        <p:spPr>
          <a:xfrm>
            <a:off x="5257800" y="237744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03</a:t>
            </a:r>
            <a:endParaRPr lang="en-US" sz="1300" dirty="0"/>
          </a:p>
        </p:txBody>
      </p:sp>
      <p:sp>
        <p:nvSpPr>
          <p:cNvPr id="20" name="Text 18"/>
          <p:cNvSpPr txBox="1"/>
          <p:nvPr/>
        </p:nvSpPr>
        <p:spPr>
          <a:xfrm>
            <a:off x="5715000" y="237744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Contrats et statuts</a:t>
            </a:r>
            <a:endParaRPr lang="en-US" sz="1500" dirty="0"/>
          </a:p>
        </p:txBody>
      </p:sp>
      <p:sp>
        <p:nvSpPr>
          <p:cNvPr id="21" name="Carte"/>
          <p:cNvSpPr/>
          <p:nvPr/>
        </p:nvSpPr>
        <p:spPr>
          <a:xfrm>
            <a:off x="8366760" y="2377440"/>
            <a:ext cx="3154680" cy="603504"/>
          </a:xfrm>
          <a:prstGeom prst="roundRect">
            <a:avLst>
              <a:gd name="adj" fmla="val 18182"/>
            </a:avLst>
          </a:prstGeom>
          <a:solidFill>
            <a:schemeClr val="bg2"/>
          </a:solidFill>
          <a:ln w="12700">
            <a:solidFill>
              <a:schemeClr val="bg2"/>
            </a:solidFill>
            <a:prstDash val="solid"/>
          </a:ln>
        </p:spPr>
      </p:sp>
      <p:sp>
        <p:nvSpPr>
          <p:cNvPr id="22" name="Text 20"/>
          <p:cNvSpPr txBox="1"/>
          <p:nvPr/>
        </p:nvSpPr>
        <p:spPr>
          <a:xfrm>
            <a:off x="8549640" y="237744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04</a:t>
            </a:r>
            <a:endParaRPr lang="en-US" sz="1300" dirty="0"/>
          </a:p>
        </p:txBody>
      </p:sp>
      <p:sp>
        <p:nvSpPr>
          <p:cNvPr id="23" name="Text 21"/>
          <p:cNvSpPr txBox="1"/>
          <p:nvPr/>
        </p:nvSpPr>
        <p:spPr>
          <a:xfrm>
            <a:off x="9006840" y="237744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Commissions</a:t>
            </a:r>
            <a:endParaRPr lang="en-US" sz="1500" dirty="0"/>
          </a:p>
        </p:txBody>
      </p:sp>
      <p:sp>
        <p:nvSpPr>
          <p:cNvPr id="24" name="Carte"/>
          <p:cNvSpPr/>
          <p:nvPr/>
        </p:nvSpPr>
        <p:spPr>
          <a:xfrm>
            <a:off x="5074920" y="3108960"/>
            <a:ext cx="3154680" cy="603504"/>
          </a:xfrm>
          <a:prstGeom prst="roundRect">
            <a:avLst>
              <a:gd name="adj" fmla="val 18182"/>
            </a:avLst>
          </a:prstGeom>
          <a:solidFill>
            <a:schemeClr val="bg2"/>
          </a:solidFill>
          <a:ln w="12700">
            <a:solidFill>
              <a:schemeClr val="bg2"/>
            </a:solidFill>
            <a:prstDash val="solid"/>
          </a:ln>
        </p:spPr>
      </p:sp>
      <p:sp>
        <p:nvSpPr>
          <p:cNvPr id="25" name="Text 23"/>
          <p:cNvSpPr txBox="1"/>
          <p:nvPr/>
        </p:nvSpPr>
        <p:spPr>
          <a:xfrm>
            <a:off x="5257800" y="310896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05</a:t>
            </a:r>
            <a:endParaRPr lang="en-US" sz="1300" dirty="0"/>
          </a:p>
        </p:txBody>
      </p:sp>
      <p:sp>
        <p:nvSpPr>
          <p:cNvPr id="26" name="Text 24"/>
          <p:cNvSpPr txBox="1"/>
          <p:nvPr/>
        </p:nvSpPr>
        <p:spPr>
          <a:xfrm>
            <a:off x="5715000" y="310896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Documents</a:t>
            </a:r>
            <a:endParaRPr lang="en-US" sz="1500" dirty="0"/>
          </a:p>
        </p:txBody>
      </p:sp>
      <p:sp>
        <p:nvSpPr>
          <p:cNvPr id="27" name="Carte"/>
          <p:cNvSpPr/>
          <p:nvPr/>
        </p:nvSpPr>
        <p:spPr>
          <a:xfrm>
            <a:off x="8366760" y="3108960"/>
            <a:ext cx="3154680" cy="603504"/>
          </a:xfrm>
          <a:prstGeom prst="roundRect">
            <a:avLst>
              <a:gd name="adj" fmla="val 18182"/>
            </a:avLst>
          </a:prstGeom>
          <a:solidFill>
            <a:schemeClr val="bg2"/>
          </a:solidFill>
          <a:ln w="12700">
            <a:solidFill>
              <a:schemeClr val="bg2"/>
            </a:solidFill>
            <a:prstDash val="solid"/>
          </a:ln>
        </p:spPr>
      </p:sp>
      <p:sp>
        <p:nvSpPr>
          <p:cNvPr id="28" name="Text 26"/>
          <p:cNvSpPr txBox="1"/>
          <p:nvPr/>
        </p:nvSpPr>
        <p:spPr>
          <a:xfrm>
            <a:off x="8549640" y="310896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06</a:t>
            </a:r>
            <a:endParaRPr lang="en-US" sz="1300" dirty="0"/>
          </a:p>
        </p:txBody>
      </p:sp>
      <p:sp>
        <p:nvSpPr>
          <p:cNvPr id="29" name="Text 27"/>
          <p:cNvSpPr txBox="1"/>
          <p:nvPr/>
        </p:nvSpPr>
        <p:spPr>
          <a:xfrm>
            <a:off x="9006840" y="310896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Tableau de bord</a:t>
            </a:r>
            <a:endParaRPr lang="en-US" sz="1500" dirty="0"/>
          </a:p>
        </p:txBody>
      </p:sp>
      <p:sp>
        <p:nvSpPr>
          <p:cNvPr id="30" name="Carte"/>
          <p:cNvSpPr/>
          <p:nvPr/>
        </p:nvSpPr>
        <p:spPr>
          <a:xfrm>
            <a:off x="5074920" y="3840480"/>
            <a:ext cx="3154680" cy="603504"/>
          </a:xfrm>
          <a:prstGeom prst="roundRect">
            <a:avLst>
              <a:gd name="adj" fmla="val 18182"/>
            </a:avLst>
          </a:prstGeom>
          <a:solidFill>
            <a:schemeClr val="bg2"/>
          </a:solidFill>
          <a:ln w="12700">
            <a:solidFill>
              <a:schemeClr val="bg2"/>
            </a:solidFill>
            <a:prstDash val="solid"/>
          </a:ln>
        </p:spPr>
      </p:sp>
      <p:sp>
        <p:nvSpPr>
          <p:cNvPr id="31" name="Text 29"/>
          <p:cNvSpPr txBox="1"/>
          <p:nvPr/>
        </p:nvSpPr>
        <p:spPr>
          <a:xfrm>
            <a:off x="5257800" y="384048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07</a:t>
            </a:r>
            <a:endParaRPr lang="en-US" sz="1300" dirty="0"/>
          </a:p>
        </p:txBody>
      </p:sp>
      <p:sp>
        <p:nvSpPr>
          <p:cNvPr id="32" name="Text 30"/>
          <p:cNvSpPr txBox="1"/>
          <p:nvPr/>
        </p:nvSpPr>
        <p:spPr>
          <a:xfrm>
            <a:off x="5715000" y="384048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Alertes et relances</a:t>
            </a:r>
            <a:endParaRPr lang="en-US" sz="1500" dirty="0"/>
          </a:p>
        </p:txBody>
      </p:sp>
      <p:sp>
        <p:nvSpPr>
          <p:cNvPr id="33" name="Carte"/>
          <p:cNvSpPr/>
          <p:nvPr/>
        </p:nvSpPr>
        <p:spPr>
          <a:xfrm>
            <a:off x="8366760" y="3840480"/>
            <a:ext cx="3154680" cy="603504"/>
          </a:xfrm>
          <a:prstGeom prst="roundRect">
            <a:avLst>
              <a:gd name="adj" fmla="val 18182"/>
            </a:avLst>
          </a:prstGeom>
          <a:solidFill>
            <a:schemeClr val="bg2"/>
          </a:solidFill>
          <a:ln w="12700">
            <a:solidFill>
              <a:schemeClr val="bg2"/>
            </a:solidFill>
            <a:prstDash val="solid"/>
          </a:ln>
        </p:spPr>
      </p:sp>
      <p:sp>
        <p:nvSpPr>
          <p:cNvPr id="34" name="Text 32"/>
          <p:cNvSpPr txBox="1"/>
          <p:nvPr/>
        </p:nvSpPr>
        <p:spPr>
          <a:xfrm>
            <a:off x="8549640" y="384048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08</a:t>
            </a:r>
            <a:endParaRPr lang="en-US" sz="1300" dirty="0"/>
          </a:p>
        </p:txBody>
      </p:sp>
      <p:sp>
        <p:nvSpPr>
          <p:cNvPr id="35" name="Text 33"/>
          <p:cNvSpPr txBox="1"/>
          <p:nvPr/>
        </p:nvSpPr>
        <p:spPr>
          <a:xfrm>
            <a:off x="9006840" y="384048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Paramétrage du cabinet</a:t>
            </a:r>
            <a:endParaRPr lang="en-US" sz="1500" dirty="0"/>
          </a:p>
        </p:txBody>
      </p:sp>
      <p:sp>
        <p:nvSpPr>
          <p:cNvPr id="36" name="Carte"/>
          <p:cNvSpPr/>
          <p:nvPr/>
        </p:nvSpPr>
        <p:spPr>
          <a:xfrm>
            <a:off x="5074920" y="4572000"/>
            <a:ext cx="3154680" cy="603504"/>
          </a:xfrm>
          <a:prstGeom prst="roundRect">
            <a:avLst>
              <a:gd name="adj" fmla="val 18182"/>
            </a:avLst>
          </a:prstGeom>
          <a:solidFill>
            <a:schemeClr val="bg2"/>
          </a:solidFill>
          <a:ln w="12700">
            <a:solidFill>
              <a:schemeClr val="bg2"/>
            </a:solidFill>
            <a:prstDash val="solid"/>
          </a:ln>
        </p:spPr>
      </p:sp>
      <p:sp>
        <p:nvSpPr>
          <p:cNvPr id="37" name="Text 35"/>
          <p:cNvSpPr txBox="1"/>
          <p:nvPr/>
        </p:nvSpPr>
        <p:spPr>
          <a:xfrm>
            <a:off x="5257800" y="457200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09</a:t>
            </a:r>
            <a:endParaRPr lang="en-US" sz="1300" dirty="0"/>
          </a:p>
        </p:txBody>
      </p:sp>
      <p:sp>
        <p:nvSpPr>
          <p:cNvPr id="38" name="Text 36"/>
          <p:cNvSpPr txBox="1"/>
          <p:nvPr/>
        </p:nvSpPr>
        <p:spPr>
          <a:xfrm>
            <a:off x="5715000" y="457200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Comparateur emprunteur</a:t>
            </a:r>
            <a:endParaRPr lang="en-US" sz="1500" dirty="0"/>
          </a:p>
        </p:txBody>
      </p:sp>
      <p:sp>
        <p:nvSpPr>
          <p:cNvPr id="39" name="Carte"/>
          <p:cNvSpPr/>
          <p:nvPr/>
        </p:nvSpPr>
        <p:spPr>
          <a:xfrm>
            <a:off x="8366760" y="4572000"/>
            <a:ext cx="3154680" cy="603504"/>
          </a:xfrm>
          <a:prstGeom prst="roundRect">
            <a:avLst>
              <a:gd name="adj" fmla="val 18182"/>
            </a:avLst>
          </a:prstGeom>
          <a:solidFill>
            <a:schemeClr val="bg2"/>
          </a:solidFill>
          <a:ln w="12700">
            <a:solidFill>
              <a:schemeClr val="bg2"/>
            </a:solidFill>
            <a:prstDash val="solid"/>
          </a:ln>
        </p:spPr>
      </p:sp>
      <p:sp>
        <p:nvSpPr>
          <p:cNvPr id="40" name="Text 38"/>
          <p:cNvSpPr txBox="1"/>
          <p:nvPr/>
        </p:nvSpPr>
        <p:spPr>
          <a:xfrm>
            <a:off x="8549640" y="4572000"/>
            <a:ext cx="457200" cy="603504"/>
          </a:xfrm>
          <a:prstGeom prst="rect">
            <a:avLst/>
          </a:prstGeom>
          <a:noFill/>
          <a:ln/>
        </p:spPr>
        <p:txBody>
          <a:bodyPr wrap="square" lIns="0" tIns="0" rIns="0" bIns="0" rtlCol="0" anchor="ctr"/>
          <a:lstStyle/>
          <a:p>
            <a:pPr indent="0" marL="0">
              <a:buNone/>
            </a:pPr>
            <a:r>
              <a:rPr lang="en-US" sz="1300" b="1" dirty="0">
                <a:solidFill>
                  <a:schemeClr val="accent2"/>
                </a:solidFill>
              </a:rPr>
              <a:t>10</a:t>
            </a:r>
            <a:endParaRPr lang="en-US" sz="1300" dirty="0"/>
          </a:p>
        </p:txBody>
      </p:sp>
      <p:sp>
        <p:nvSpPr>
          <p:cNvPr id="41" name="Text 39"/>
          <p:cNvSpPr txBox="1"/>
          <p:nvPr/>
        </p:nvSpPr>
        <p:spPr>
          <a:xfrm>
            <a:off x="9006840" y="4572000"/>
            <a:ext cx="2423160" cy="603504"/>
          </a:xfrm>
          <a:prstGeom prst="rect">
            <a:avLst/>
          </a:prstGeom>
          <a:noFill/>
          <a:ln/>
        </p:spPr>
        <p:txBody>
          <a:bodyPr wrap="square" lIns="0" tIns="0" rIns="0" bIns="0" rtlCol="0" anchor="ctr"/>
          <a:lstStyle/>
          <a:p>
            <a:pPr indent="0" marL="0">
              <a:buNone/>
            </a:pPr>
            <a:r>
              <a:rPr lang="en-US" sz="1500" b="1" dirty="0">
                <a:solidFill>
                  <a:schemeClr val="tx1"/>
                </a:solidFill>
              </a:rPr>
              <a:t>Agenda des rendez-vous</a:t>
            </a:r>
            <a:endParaRPr lang="en-US" sz="1500" dirty="0"/>
          </a:p>
        </p:txBody>
      </p:sp>
      <p:sp>
        <p:nvSpPr>
          <p:cNvPr id="42" name="Pastille"/>
          <p:cNvSpPr/>
          <p:nvPr/>
        </p:nvSpPr>
        <p:spPr>
          <a:xfrm>
            <a:off x="548640" y="5532120"/>
            <a:ext cx="1591056"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43" name="Pastille texte"/>
          <p:cNvSpPr txBox="1"/>
          <p:nvPr/>
        </p:nvSpPr>
        <p:spPr>
          <a:xfrm>
            <a:off x="548640" y="5532120"/>
            <a:ext cx="1591056" cy="347472"/>
          </a:xfrm>
          <a:prstGeom prst="rect">
            <a:avLst/>
          </a:prstGeom>
          <a:noFill/>
          <a:ln/>
        </p:spPr>
        <p:txBody>
          <a:bodyPr wrap="square" lIns="0" tIns="0" rIns="0" bIns="0" rtlCol="0" anchor="ctr"/>
          <a:lstStyle/>
          <a:p>
            <a:pPr algn="ctr" indent="0" marL="0">
              <a:buNone/>
            </a:pPr>
            <a:r>
              <a:rPr lang="en-US" sz="1250" b="1" dirty="0">
                <a:solidFill>
                  <a:schemeClr val="accent2"/>
                </a:solidFill>
              </a:rPr>
              <a:t>Journal d'audit</a:t>
            </a:r>
            <a:endParaRPr lang="en-US" sz="1250" dirty="0"/>
          </a:p>
        </p:txBody>
      </p:sp>
      <p:sp>
        <p:nvSpPr>
          <p:cNvPr id="44" name="Pastille"/>
          <p:cNvSpPr/>
          <p:nvPr/>
        </p:nvSpPr>
        <p:spPr>
          <a:xfrm>
            <a:off x="2276856" y="5532120"/>
            <a:ext cx="2637130"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45" name="Pastille texte"/>
          <p:cNvSpPr txBox="1"/>
          <p:nvPr/>
        </p:nvSpPr>
        <p:spPr>
          <a:xfrm>
            <a:off x="2276856" y="5532120"/>
            <a:ext cx="2637130" cy="347472"/>
          </a:xfrm>
          <a:prstGeom prst="rect">
            <a:avLst/>
          </a:prstGeom>
          <a:noFill/>
          <a:ln/>
        </p:spPr>
        <p:txBody>
          <a:bodyPr wrap="square" lIns="0" tIns="0" rIns="0" bIns="0" rtlCol="0" anchor="ctr"/>
          <a:lstStyle/>
          <a:p>
            <a:pPr algn="ctr" indent="0" marL="0">
              <a:buNone/>
            </a:pPr>
            <a:r>
              <a:rPr lang="en-US" sz="1250" b="1" dirty="0">
                <a:solidFill>
                  <a:schemeClr val="accent2"/>
                </a:solidFill>
              </a:rPr>
              <a:t>Rapprochement attendu / reçu</a:t>
            </a:r>
            <a:endParaRPr lang="en-US" sz="1250" dirty="0"/>
          </a:p>
        </p:txBody>
      </p:sp>
      <p:sp>
        <p:nvSpPr>
          <p:cNvPr id="46" name="Pastille"/>
          <p:cNvSpPr/>
          <p:nvPr/>
        </p:nvSpPr>
        <p:spPr>
          <a:xfrm>
            <a:off x="5051146" y="5532120"/>
            <a:ext cx="1832458"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47" name="Pastille texte"/>
          <p:cNvSpPr txBox="1"/>
          <p:nvPr/>
        </p:nvSpPr>
        <p:spPr>
          <a:xfrm>
            <a:off x="5051146" y="5532120"/>
            <a:ext cx="1832458" cy="347472"/>
          </a:xfrm>
          <a:prstGeom prst="rect">
            <a:avLst/>
          </a:prstGeom>
          <a:noFill/>
          <a:ln/>
        </p:spPr>
        <p:txBody>
          <a:bodyPr wrap="square" lIns="0" tIns="0" rIns="0" bIns="0" rtlCol="0" anchor="ctr"/>
          <a:lstStyle/>
          <a:p>
            <a:pPr algn="ctr" indent="0" marL="0">
              <a:buNone/>
            </a:pPr>
            <a:r>
              <a:rPr lang="en-US" sz="1250" b="1" dirty="0">
                <a:solidFill>
                  <a:schemeClr val="accent2"/>
                </a:solidFill>
              </a:rPr>
              <a:t>Un point à valider</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L'ARCHITECTURE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Une installation isolée par cabinet</a:t>
            </a:r>
            <a:endParaRPr lang="en-US" sz="3400" dirty="0"/>
          </a:p>
        </p:txBody>
      </p:sp>
      <p:pic>
        <p:nvPicPr>
          <p:cNvPr id="4" name="Schéma d'architecture" descr="Architecture : application Flutter, reverse proxy HTTPS, API Node.js et base MySQL dans Docker, services Scaleway et Firebase">    </p:cNvPr>
          <p:cNvPicPr>
            <a:picLocks noChangeAspect="1"/>
          </p:cNvPicPr>
          <p:nvPr/>
        </p:nvPicPr>
        <p:blipFill>
          <a:blip r:embed="rId1"/>
          <a:stretch>
            <a:fillRect/>
          </a:stretch>
        </p:blipFill>
        <p:spPr>
          <a:xfrm>
            <a:off x="685800" y="1600200"/>
            <a:ext cx="10789920" cy="4297365"/>
          </a:xfrm>
          <a:prstGeom prst="rect">
            <a:avLst/>
          </a:prstGeom>
        </p:spPr>
      </p:pic>
      <p:sp>
        <p:nvSpPr>
          <p:cNvPr id="5" name="Pastille"/>
          <p:cNvSpPr/>
          <p:nvPr/>
        </p:nvSpPr>
        <p:spPr>
          <a:xfrm>
            <a:off x="548640" y="5943600"/>
            <a:ext cx="2637130"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6" name="Pastille texte"/>
          <p:cNvSpPr txBox="1"/>
          <p:nvPr/>
        </p:nvSpPr>
        <p:spPr>
          <a:xfrm>
            <a:off x="548640" y="5943600"/>
            <a:ext cx="2637130" cy="347472"/>
          </a:xfrm>
          <a:prstGeom prst="rect">
            <a:avLst/>
          </a:prstGeom>
          <a:noFill/>
          <a:ln/>
        </p:spPr>
        <p:txBody>
          <a:bodyPr wrap="square" lIns="0" tIns="0" rIns="0" bIns="0" rtlCol="0" anchor="ctr"/>
          <a:lstStyle/>
          <a:p>
            <a:pPr algn="ctr" indent="0" marL="0">
              <a:buNone/>
            </a:pPr>
            <a:r>
              <a:rPr lang="en-US" sz="1250" b="1" dirty="0">
                <a:solidFill>
                  <a:schemeClr val="accent2"/>
                </a:solidFill>
              </a:rPr>
              <a:t>Seule l'API touche à la base</a:t>
            </a:r>
            <a:endParaRPr lang="en-US" sz="1250" dirty="0"/>
          </a:p>
        </p:txBody>
      </p:sp>
      <p:sp>
        <p:nvSpPr>
          <p:cNvPr id="7" name="Pastille"/>
          <p:cNvSpPr/>
          <p:nvPr/>
        </p:nvSpPr>
        <p:spPr>
          <a:xfrm>
            <a:off x="3322930" y="5943600"/>
            <a:ext cx="2073859"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8" name="Pastille texte"/>
          <p:cNvSpPr txBox="1"/>
          <p:nvPr/>
        </p:nvSpPr>
        <p:spPr>
          <a:xfrm>
            <a:off x="3322930" y="5943600"/>
            <a:ext cx="2073859" cy="347472"/>
          </a:xfrm>
          <a:prstGeom prst="rect">
            <a:avLst/>
          </a:prstGeom>
          <a:noFill/>
          <a:ln/>
        </p:spPr>
        <p:txBody>
          <a:bodyPr wrap="square" lIns="0" tIns="0" rIns="0" bIns="0" rtlCol="0" anchor="ctr"/>
          <a:lstStyle/>
          <a:p>
            <a:pPr algn="ctr" indent="0" marL="0">
              <a:buNone/>
            </a:pPr>
            <a:r>
              <a:rPr lang="en-US" sz="1250" b="1" dirty="0">
                <a:solidFill>
                  <a:schemeClr val="accent2"/>
                </a:solidFill>
              </a:rPr>
              <a:t>Un chemin par cabinet</a:t>
            </a:r>
            <a:endParaRPr lang="en-US" sz="1250" dirty="0"/>
          </a:p>
        </p:txBody>
      </p:sp>
      <p:sp>
        <p:nvSpPr>
          <p:cNvPr id="9" name="Pastille"/>
          <p:cNvSpPr/>
          <p:nvPr/>
        </p:nvSpPr>
        <p:spPr>
          <a:xfrm>
            <a:off x="5533949" y="5943600"/>
            <a:ext cx="1108253"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10" name="Pastille texte"/>
          <p:cNvSpPr txBox="1"/>
          <p:nvPr/>
        </p:nvSpPr>
        <p:spPr>
          <a:xfrm>
            <a:off x="5533949" y="5943600"/>
            <a:ext cx="1108253" cy="347472"/>
          </a:xfrm>
          <a:prstGeom prst="rect">
            <a:avLst/>
          </a:prstGeom>
          <a:noFill/>
          <a:ln/>
        </p:spPr>
        <p:txBody>
          <a:bodyPr wrap="square" lIns="0" tIns="0" rIns="0" bIns="0" rtlCol="0" anchor="ctr"/>
          <a:lstStyle/>
          <a:p>
            <a:pPr algn="ctr" indent="0" marL="0">
              <a:buNone/>
            </a:pPr>
            <a:r>
              <a:rPr lang="en-US" sz="1250" b="1" dirty="0">
                <a:solidFill>
                  <a:schemeClr val="accent2"/>
                </a:solidFill>
              </a:rPr>
              <a:t>Jeton JWT</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LES CHOIX TECHNIQUES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Chaque choix est justifié dans le cahier technique</a:t>
            </a:r>
            <a:endParaRPr lang="en-US" sz="3400" dirty="0"/>
          </a:p>
        </p:txBody>
      </p:sp>
      <p:graphicFrame>
        <p:nvGraphicFramePr>
          <p:cNvPr id="9" name="Choix techniques"/>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194560"/>
                <a:gridCol w="3291840"/>
                <a:gridCol w="5605272"/>
              </a:tblGrid>
              <a:tr h="475488">
                <a:tc>
                  <a:txBody>
                    <a:bodyPr/>
                    <a:lstStyle/>
                    <a:p>
                      <a:pPr indent="0" marL="0">
                        <a:buNone/>
                      </a:pPr>
                      <a:r>
                        <a:rPr lang="en-US" sz="1200" b="1" dirty="0">
                          <a:solidFill>
                            <a:schemeClr val="accent5"/>
                          </a:solidFill>
                        </a:rPr>
                        <a:t>Besoin</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b="1" dirty="0">
                          <a:solidFill>
                            <a:schemeClr val="accent5"/>
                          </a:solidFill>
                        </a:rPr>
                        <a:t>Choix</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b="1" dirty="0">
                          <a:solidFill>
                            <a:schemeClr val="accent5"/>
                          </a:solidFill>
                        </a:rPr>
                        <a:t>Pourquoi</a:t>
                      </a:r>
                      <a:endParaRPr lang="en-US" sz="12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Application</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Flutter (Dart)</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Une seule base de code pour 4 plateformes, déjà utilisée sur SYNCRO</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Serveur (API)</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Node.js et Express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Maîtrisé, minimaliste, le plus documenté</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Base de données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MySQL dans Docker</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Données très liées : les clés étrangères gardent la cohérence</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Documents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Scaleway Object Storage</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Payé à l'usage : le volume est impossible à prévoir</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E-mails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Scaleway Transactional Email</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Envoyés depuis le domaine de l'application</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Notifications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Firebase + notifications locales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Push sur téléphone, alertes sur ordinateur</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75488">
                <a:tc>
                  <a:txBody>
                    <a:bodyPr/>
                    <a:lstStyle/>
                    <a:p>
                      <a:pPr indent="0" marL="0">
                        <a:buNone/>
                      </a:pPr>
                      <a:r>
                        <a:rPr lang="en-US" sz="1500" dirty="0">
                          <a:solidFill>
                            <a:schemeClr val="accent5"/>
                          </a:solidFill>
                        </a:rPr>
                        <a:t>Hébergement</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b="1" dirty="0">
                          <a:solidFill>
                            <a:schemeClr val="tx1"/>
                          </a:solidFill>
                        </a:rPr>
                        <a:t>Scaleway, région Paris</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500" dirty="0">
                          <a:solidFill>
                            <a:schemeClr val="tx1"/>
                          </a:solidFill>
                        </a:rPr>
                        <a:t>Données en France, un seul fournisseur</a:t>
                      </a:r>
                      <a:endParaRPr lang="en-US" sz="1500" dirty="0"/>
                    </a:p>
                  </a:txBody>
                  <a:tcPr marL="91440" marR="91440" marT="45720" marB="4572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5" name="Pastille"/>
          <p:cNvSpPr/>
          <p:nvPr/>
        </p:nvSpPr>
        <p:spPr>
          <a:xfrm>
            <a:off x="548640" y="5760720"/>
            <a:ext cx="1430122"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6" name="Pastille texte"/>
          <p:cNvSpPr txBox="1"/>
          <p:nvPr/>
        </p:nvSpPr>
        <p:spPr>
          <a:xfrm>
            <a:off x="548640" y="5760720"/>
            <a:ext cx="1430122" cy="347472"/>
          </a:xfrm>
          <a:prstGeom prst="rect">
            <a:avLst/>
          </a:prstGeom>
          <a:noFill/>
          <a:ln/>
        </p:spPr>
        <p:txBody>
          <a:bodyPr wrap="square" lIns="0" tIns="0" rIns="0" bIns="0" rtlCol="0" anchor="ctr"/>
          <a:lstStyle/>
          <a:p>
            <a:pPr algn="ctr" indent="0" marL="0">
              <a:buNone/>
            </a:pPr>
            <a:r>
              <a:rPr lang="en-US" sz="1250" b="1" dirty="0">
                <a:solidFill>
                  <a:schemeClr val="accent2"/>
                </a:solidFill>
              </a:rPr>
              <a:t>Compatible S3</a:t>
            </a:r>
            <a:endParaRPr lang="en-US" sz="1250" dirty="0"/>
          </a:p>
        </p:txBody>
      </p:sp>
      <p:sp>
        <p:nvSpPr>
          <p:cNvPr id="7" name="Pastille"/>
          <p:cNvSpPr/>
          <p:nvPr/>
        </p:nvSpPr>
        <p:spPr>
          <a:xfrm>
            <a:off x="2115922" y="5760720"/>
            <a:ext cx="1832458"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8" name="Pastille texte"/>
          <p:cNvSpPr txBox="1"/>
          <p:nvPr/>
        </p:nvSpPr>
        <p:spPr>
          <a:xfrm>
            <a:off x="2115922" y="5760720"/>
            <a:ext cx="1832458" cy="347472"/>
          </a:xfrm>
          <a:prstGeom prst="rect">
            <a:avLst/>
          </a:prstGeom>
          <a:noFill/>
          <a:ln/>
        </p:spPr>
        <p:txBody>
          <a:bodyPr wrap="square" lIns="0" tIns="0" rIns="0" bIns="0" rtlCol="0" anchor="ctr"/>
          <a:lstStyle/>
          <a:p>
            <a:pPr algn="ctr" indent="0" marL="0">
              <a:buNone/>
            </a:pPr>
            <a:r>
              <a:rPr lang="en-US" sz="1250" b="1" dirty="0">
                <a:solidFill>
                  <a:schemeClr val="accent2"/>
                </a:solidFill>
              </a:rPr>
              <a:t>SPF · DKIM · DMARC</a:t>
            </a:r>
            <a:endParaRPr lang="en-US" sz="1250" dirty="0"/>
          </a:p>
        </p:txBody>
      </p:sp>
      <p:sp>
        <p:nvSpPr>
          <p:cNvPr id="9" name="Pastille"/>
          <p:cNvSpPr/>
          <p:nvPr/>
        </p:nvSpPr>
        <p:spPr>
          <a:xfrm>
            <a:off x="4085539" y="5760720"/>
            <a:ext cx="2637130"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10" name="Pastille texte"/>
          <p:cNvSpPr txBox="1"/>
          <p:nvPr/>
        </p:nvSpPr>
        <p:spPr>
          <a:xfrm>
            <a:off x="4085539" y="5760720"/>
            <a:ext cx="2637130" cy="347472"/>
          </a:xfrm>
          <a:prstGeom prst="rect">
            <a:avLst/>
          </a:prstGeom>
          <a:noFill/>
          <a:ln/>
        </p:spPr>
        <p:txBody>
          <a:bodyPr wrap="square" lIns="0" tIns="0" rIns="0" bIns="0" rtlCol="0" anchor="ctr"/>
          <a:lstStyle/>
          <a:p>
            <a:pPr algn="ctr" indent="0" marL="0">
              <a:buNone/>
            </a:pPr>
            <a:r>
              <a:rPr lang="en-US" sz="1250" b="1" dirty="0">
                <a:solidFill>
                  <a:schemeClr val="accent2"/>
                </a:solidFill>
              </a:rPr>
              <a:t>Firebase ne gère pas Windows</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LA SÉCURITÉ</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La sécurité est sur le serveur, pas dans l'application</a:t>
            </a:r>
            <a:endParaRPr lang="en-US" sz="3400" dirty="0"/>
          </a:p>
        </p:txBody>
      </p:sp>
      <p:sp>
        <p:nvSpPr>
          <p:cNvPr id="4" name="Carte"/>
          <p:cNvSpPr/>
          <p:nvPr/>
        </p:nvSpPr>
        <p:spPr>
          <a:xfrm>
            <a:off x="548640" y="1691640"/>
            <a:ext cx="2560320" cy="1737360"/>
          </a:xfrm>
          <a:prstGeom prst="roundRect">
            <a:avLst>
              <a:gd name="adj" fmla="val 631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5" name="Text 3"/>
          <p:cNvSpPr txBox="1"/>
          <p:nvPr/>
        </p:nvSpPr>
        <p:spPr>
          <a:xfrm>
            <a:off x="777240" y="1828800"/>
            <a:ext cx="54864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777240" y="2423160"/>
            <a:ext cx="2148840" cy="640080"/>
          </a:xfrm>
          <a:prstGeom prst="rect">
            <a:avLst/>
          </a:prstGeom>
          <a:noFill/>
          <a:ln/>
        </p:spPr>
        <p:txBody>
          <a:bodyPr wrap="square" lIns="0" tIns="0" rIns="0" bIns="0" rtlCol="0" anchor="t"/>
          <a:lstStyle/>
          <a:p>
            <a:pPr indent="0" marL="0">
              <a:buNone/>
            </a:pPr>
            <a:r>
              <a:rPr lang="en-US" sz="1600" b="1" dirty="0">
                <a:solidFill>
                  <a:schemeClr val="tx1"/>
                </a:solidFill>
              </a:rPr>
              <a:t>Le jeton est-il valide ?</a:t>
            </a:r>
            <a:endParaRPr lang="en-US" sz="1600" dirty="0"/>
          </a:p>
        </p:txBody>
      </p:sp>
      <p:sp>
        <p:nvSpPr>
          <p:cNvPr id="7" name="Text 5"/>
          <p:cNvSpPr txBox="1"/>
          <p:nvPr/>
        </p:nvSpPr>
        <p:spPr>
          <a:xfrm>
            <a:off x="777240" y="3017520"/>
            <a:ext cx="2148840" cy="320040"/>
          </a:xfrm>
          <a:prstGeom prst="rect">
            <a:avLst/>
          </a:prstGeom>
          <a:noFill/>
          <a:ln/>
        </p:spPr>
        <p:txBody>
          <a:bodyPr wrap="square" lIns="0" tIns="0" rIns="0" bIns="0" rtlCol="0" anchor="t"/>
          <a:lstStyle/>
          <a:p>
            <a:pPr indent="0" marL="0">
              <a:buNone/>
            </a:pPr>
            <a:r>
              <a:rPr lang="en-US" sz="1400" dirty="0">
                <a:solidFill>
                  <a:schemeClr val="accent5"/>
                </a:solidFill>
              </a:rPr>
              <a:t>Sinon : 401</a:t>
            </a:r>
            <a:endParaRPr lang="en-US" sz="1400" dirty="0"/>
          </a:p>
        </p:txBody>
      </p:sp>
      <p:sp>
        <p:nvSpPr>
          <p:cNvPr id="8" name="Flèche"/>
          <p:cNvSpPr/>
          <p:nvPr/>
        </p:nvSpPr>
        <p:spPr>
          <a:xfrm>
            <a:off x="3145536" y="2423160"/>
            <a:ext cx="256032" cy="274320"/>
          </a:xfrm>
          <a:prstGeom prst="rightArrow">
            <a:avLst/>
          </a:prstGeom>
          <a:solidFill>
            <a:schemeClr val="accent6"/>
          </a:solidFill>
          <a:ln w="12700">
            <a:solidFill>
              <a:schemeClr val="accent6"/>
            </a:solidFill>
            <a:prstDash val="solid"/>
          </a:ln>
        </p:spPr>
      </p:sp>
      <p:sp>
        <p:nvSpPr>
          <p:cNvPr id="9" name="Carte"/>
          <p:cNvSpPr/>
          <p:nvPr/>
        </p:nvSpPr>
        <p:spPr>
          <a:xfrm>
            <a:off x="3429000" y="1691640"/>
            <a:ext cx="2560320" cy="1737360"/>
          </a:xfrm>
          <a:prstGeom prst="roundRect">
            <a:avLst>
              <a:gd name="adj" fmla="val 631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10" name="Text 8"/>
          <p:cNvSpPr txBox="1"/>
          <p:nvPr/>
        </p:nvSpPr>
        <p:spPr>
          <a:xfrm>
            <a:off x="3657600" y="1828800"/>
            <a:ext cx="54864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2</a:t>
            </a:r>
            <a:endParaRPr lang="en-US" sz="3000" dirty="0"/>
          </a:p>
        </p:txBody>
      </p:sp>
      <p:sp>
        <p:nvSpPr>
          <p:cNvPr id="11" name="Text 9"/>
          <p:cNvSpPr txBox="1"/>
          <p:nvPr/>
        </p:nvSpPr>
        <p:spPr>
          <a:xfrm>
            <a:off x="3657600" y="2423160"/>
            <a:ext cx="2148840" cy="640080"/>
          </a:xfrm>
          <a:prstGeom prst="rect">
            <a:avLst/>
          </a:prstGeom>
          <a:noFill/>
          <a:ln/>
        </p:spPr>
        <p:txBody>
          <a:bodyPr wrap="square" lIns="0" tIns="0" rIns="0" bIns="0" rtlCol="0" anchor="t"/>
          <a:lstStyle/>
          <a:p>
            <a:pPr indent="0" marL="0">
              <a:buNone/>
            </a:pPr>
            <a:r>
              <a:rPr lang="en-US" sz="1600" b="1" dirty="0">
                <a:solidFill>
                  <a:schemeClr val="tx1"/>
                </a:solidFill>
              </a:rPr>
              <a:t>Le rôle est-il autorisé ?</a:t>
            </a:r>
            <a:endParaRPr lang="en-US" sz="1600" dirty="0"/>
          </a:p>
        </p:txBody>
      </p:sp>
      <p:sp>
        <p:nvSpPr>
          <p:cNvPr id="12" name="Text 10"/>
          <p:cNvSpPr txBox="1"/>
          <p:nvPr/>
        </p:nvSpPr>
        <p:spPr>
          <a:xfrm>
            <a:off x="3657600" y="3017520"/>
            <a:ext cx="2148840" cy="320040"/>
          </a:xfrm>
          <a:prstGeom prst="rect">
            <a:avLst/>
          </a:prstGeom>
          <a:noFill/>
          <a:ln/>
        </p:spPr>
        <p:txBody>
          <a:bodyPr wrap="square" lIns="0" tIns="0" rIns="0" bIns="0" rtlCol="0" anchor="t"/>
          <a:lstStyle/>
          <a:p>
            <a:pPr indent="0" marL="0">
              <a:buNone/>
            </a:pPr>
            <a:r>
              <a:rPr lang="en-US" sz="1400" dirty="0">
                <a:solidFill>
                  <a:schemeClr val="accent5"/>
                </a:solidFill>
              </a:rPr>
              <a:t>Sinon : 403</a:t>
            </a:r>
            <a:endParaRPr lang="en-US" sz="1400" dirty="0"/>
          </a:p>
        </p:txBody>
      </p:sp>
      <p:sp>
        <p:nvSpPr>
          <p:cNvPr id="13" name="Flèche"/>
          <p:cNvSpPr/>
          <p:nvPr/>
        </p:nvSpPr>
        <p:spPr>
          <a:xfrm>
            <a:off x="6025896" y="2423160"/>
            <a:ext cx="256032" cy="274320"/>
          </a:xfrm>
          <a:prstGeom prst="rightArrow">
            <a:avLst/>
          </a:prstGeom>
          <a:solidFill>
            <a:schemeClr val="accent6"/>
          </a:solidFill>
          <a:ln w="12700">
            <a:solidFill>
              <a:schemeClr val="accent6"/>
            </a:solidFill>
            <a:prstDash val="solid"/>
          </a:ln>
        </p:spPr>
      </p:sp>
      <p:sp>
        <p:nvSpPr>
          <p:cNvPr id="14" name="Carte"/>
          <p:cNvSpPr/>
          <p:nvPr/>
        </p:nvSpPr>
        <p:spPr>
          <a:xfrm>
            <a:off x="6309360" y="1691640"/>
            <a:ext cx="2560320" cy="1737360"/>
          </a:xfrm>
          <a:prstGeom prst="roundRect">
            <a:avLst>
              <a:gd name="adj" fmla="val 631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15" name="Text 13"/>
          <p:cNvSpPr txBox="1"/>
          <p:nvPr/>
        </p:nvSpPr>
        <p:spPr>
          <a:xfrm>
            <a:off x="6537960" y="1828800"/>
            <a:ext cx="54864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3</a:t>
            </a:r>
            <a:endParaRPr lang="en-US" sz="3000" dirty="0"/>
          </a:p>
        </p:txBody>
      </p:sp>
      <p:sp>
        <p:nvSpPr>
          <p:cNvPr id="16" name="Text 14"/>
          <p:cNvSpPr txBox="1"/>
          <p:nvPr/>
        </p:nvSpPr>
        <p:spPr>
          <a:xfrm>
            <a:off x="6537960" y="2423160"/>
            <a:ext cx="2148840" cy="640080"/>
          </a:xfrm>
          <a:prstGeom prst="rect">
            <a:avLst/>
          </a:prstGeom>
          <a:noFill/>
          <a:ln/>
        </p:spPr>
        <p:txBody>
          <a:bodyPr wrap="square" lIns="0" tIns="0" rIns="0" bIns="0" rtlCol="0" anchor="t"/>
          <a:lstStyle/>
          <a:p>
            <a:pPr indent="0" marL="0">
              <a:buNone/>
            </a:pPr>
            <a:r>
              <a:rPr lang="en-US" sz="1600" b="1" dirty="0">
                <a:solidFill>
                  <a:schemeClr val="tx1"/>
                </a:solidFill>
              </a:rPr>
              <a:t>La donnée est-elle à lui ?</a:t>
            </a:r>
            <a:endParaRPr lang="en-US" sz="1600" dirty="0"/>
          </a:p>
        </p:txBody>
      </p:sp>
      <p:sp>
        <p:nvSpPr>
          <p:cNvPr id="17" name="Text 15"/>
          <p:cNvSpPr txBox="1"/>
          <p:nvPr/>
        </p:nvSpPr>
        <p:spPr>
          <a:xfrm>
            <a:off x="6537960" y="3017520"/>
            <a:ext cx="2148840" cy="320040"/>
          </a:xfrm>
          <a:prstGeom prst="rect">
            <a:avLst/>
          </a:prstGeom>
          <a:noFill/>
          <a:ln/>
        </p:spPr>
        <p:txBody>
          <a:bodyPr wrap="square" lIns="0" tIns="0" rIns="0" bIns="0" rtlCol="0" anchor="t"/>
          <a:lstStyle/>
          <a:p>
            <a:pPr indent="0" marL="0">
              <a:buNone/>
            </a:pPr>
            <a:r>
              <a:rPr lang="en-US" sz="1400" dirty="0">
                <a:solidFill>
                  <a:schemeClr val="accent5"/>
                </a:solidFill>
              </a:rPr>
              <a:t>Sinon : 403 ou 404</a:t>
            </a:r>
            <a:endParaRPr lang="en-US" sz="1400" dirty="0"/>
          </a:p>
        </p:txBody>
      </p:sp>
      <p:sp>
        <p:nvSpPr>
          <p:cNvPr id="18" name="Flèche"/>
          <p:cNvSpPr/>
          <p:nvPr/>
        </p:nvSpPr>
        <p:spPr>
          <a:xfrm>
            <a:off x="9043416" y="2423160"/>
            <a:ext cx="256032" cy="274320"/>
          </a:xfrm>
          <a:prstGeom prst="rightArrow">
            <a:avLst/>
          </a:prstGeom>
          <a:solidFill>
            <a:schemeClr val="accent6"/>
          </a:solidFill>
          <a:ln w="12700">
            <a:solidFill>
              <a:schemeClr val="accent6"/>
            </a:solidFill>
            <a:prstDash val="solid"/>
          </a:ln>
        </p:spPr>
      </p:sp>
      <p:sp>
        <p:nvSpPr>
          <p:cNvPr id="19" name="Carte"/>
          <p:cNvSpPr/>
          <p:nvPr/>
        </p:nvSpPr>
        <p:spPr>
          <a:xfrm>
            <a:off x="9326880" y="1691640"/>
            <a:ext cx="2313432" cy="1737360"/>
          </a:xfrm>
          <a:prstGeom prst="roundRect">
            <a:avLst>
              <a:gd name="adj" fmla="val 6316"/>
            </a:avLst>
          </a:prstGeom>
          <a:solidFill>
            <a:schemeClr val="accent4">
              <a:alpha val="12000"/>
            </a:schemeClr>
          </a:solidFill>
          <a:ln w="12700">
            <a:solidFill>
              <a:schemeClr val="accent4"/>
            </a:solidFill>
            <a:prstDash val="solid"/>
          </a:ln>
        </p:spPr>
      </p:sp>
      <p:sp>
        <p:nvSpPr>
          <p:cNvPr id="20" name="Text 18"/>
          <p:cNvSpPr txBox="1"/>
          <p:nvPr/>
        </p:nvSpPr>
        <p:spPr>
          <a:xfrm>
            <a:off x="9555480" y="2240280"/>
            <a:ext cx="1920240" cy="731520"/>
          </a:xfrm>
          <a:prstGeom prst="rect">
            <a:avLst/>
          </a:prstGeom>
          <a:noFill/>
          <a:ln/>
        </p:spPr>
        <p:txBody>
          <a:bodyPr wrap="square" lIns="0" tIns="0" rIns="0" bIns="0" rtlCol="0" anchor="t"/>
          <a:lstStyle/>
          <a:p>
            <a:pPr indent="0" marL="0">
              <a:buNone/>
            </a:pPr>
            <a:r>
              <a:rPr lang="en-US" sz="1800" b="1" dirty="0">
                <a:solidFill>
                  <a:schemeClr val="accent4"/>
                </a:solidFill>
              </a:rPr>
              <a:t>Requête acceptée</a:t>
            </a:r>
            <a:endParaRPr lang="en-US" sz="1800" dirty="0"/>
          </a:p>
        </p:txBody>
      </p:sp>
      <p:sp>
        <p:nvSpPr>
          <p:cNvPr id="21" name="Text 19"/>
          <p:cNvSpPr txBox="1"/>
          <p:nvPr/>
        </p:nvSpPr>
        <p:spPr>
          <a:xfrm>
            <a:off x="548640" y="3794760"/>
            <a:ext cx="10972800" cy="640080"/>
          </a:xfrm>
          <a:prstGeom prst="rect">
            <a:avLst/>
          </a:prstGeom>
          <a:noFill/>
          <a:ln/>
        </p:spPr>
        <p:txBody>
          <a:bodyPr wrap="square" lIns="0" tIns="0" rIns="0" bIns="0" rtlCol="0" anchor="t"/>
          <a:lstStyle/>
          <a:p>
            <a:pPr indent="0" marL="0">
              <a:buNone/>
            </a:pPr>
            <a:r>
              <a:rPr lang="en-US" sz="1600" dirty="0">
                <a:solidFill>
                  <a:schemeClr val="tx1"/>
                </a:solidFill>
              </a:rPr>
              <a:t>Contrôlé à chaque requête : l'application peut être copiée ou imitée, donc tout contrôle fait seulement chez elle peut être contourné.</a:t>
            </a:r>
            <a:endParaRPr lang="en-US" sz="1600" dirty="0"/>
          </a:p>
        </p:txBody>
      </p:sp>
      <p:sp>
        <p:nvSpPr>
          <p:cNvPr id="22" name="Text 20"/>
          <p:cNvSpPr txBox="1"/>
          <p:nvPr/>
        </p:nvSpPr>
        <p:spPr>
          <a:xfrm>
            <a:off x="548640" y="4572000"/>
            <a:ext cx="2743200" cy="320040"/>
          </a:xfrm>
          <a:prstGeom prst="rect">
            <a:avLst/>
          </a:prstGeom>
          <a:noFill/>
          <a:ln/>
        </p:spPr>
        <p:txBody>
          <a:bodyPr wrap="square" lIns="0" tIns="0" rIns="0" bIns="0" rtlCol="0" anchor="t"/>
          <a:lstStyle/>
          <a:p>
            <a:pPr indent="0" marL="0">
              <a:buNone/>
            </a:pPr>
            <a:r>
              <a:rPr lang="en-US" sz="1300" b="1" dirty="0">
                <a:solidFill>
                  <a:schemeClr val="accent5"/>
                </a:solidFill>
              </a:rPr>
              <a:t>Et aussi</a:t>
            </a:r>
            <a:endParaRPr lang="en-US" sz="1300" dirty="0"/>
          </a:p>
        </p:txBody>
      </p:sp>
      <p:sp>
        <p:nvSpPr>
          <p:cNvPr id="23" name="Pastille"/>
          <p:cNvSpPr/>
          <p:nvPr/>
        </p:nvSpPr>
        <p:spPr>
          <a:xfrm>
            <a:off x="548640" y="4983480"/>
            <a:ext cx="1993392"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24" name="Pastille texte"/>
          <p:cNvSpPr txBox="1"/>
          <p:nvPr/>
        </p:nvSpPr>
        <p:spPr>
          <a:xfrm>
            <a:off x="548640" y="4983480"/>
            <a:ext cx="1993392" cy="347472"/>
          </a:xfrm>
          <a:prstGeom prst="rect">
            <a:avLst/>
          </a:prstGeom>
          <a:noFill/>
          <a:ln/>
        </p:spPr>
        <p:txBody>
          <a:bodyPr wrap="square" lIns="0" tIns="0" rIns="0" bIns="0" rtlCol="0" anchor="ctr"/>
          <a:lstStyle/>
          <a:p>
            <a:pPr algn="ctr" indent="0" marL="0">
              <a:buNone/>
            </a:pPr>
            <a:r>
              <a:rPr lang="en-US" sz="1250" b="1" dirty="0">
                <a:solidFill>
                  <a:schemeClr val="accent2"/>
                </a:solidFill>
              </a:rPr>
              <a:t>Mots de passe hachés</a:t>
            </a:r>
            <a:endParaRPr lang="en-US" sz="1250" dirty="0"/>
          </a:p>
        </p:txBody>
      </p:sp>
      <p:sp>
        <p:nvSpPr>
          <p:cNvPr id="25" name="Pastille"/>
          <p:cNvSpPr/>
          <p:nvPr/>
        </p:nvSpPr>
        <p:spPr>
          <a:xfrm>
            <a:off x="2679192" y="4983480"/>
            <a:ext cx="1993392"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26" name="Pastille texte"/>
          <p:cNvSpPr txBox="1"/>
          <p:nvPr/>
        </p:nvSpPr>
        <p:spPr>
          <a:xfrm>
            <a:off x="2679192" y="4983480"/>
            <a:ext cx="1993392" cy="347472"/>
          </a:xfrm>
          <a:prstGeom prst="rect">
            <a:avLst/>
          </a:prstGeom>
          <a:noFill/>
          <a:ln/>
        </p:spPr>
        <p:txBody>
          <a:bodyPr wrap="square" lIns="0" tIns="0" rIns="0" bIns="0" rtlCol="0" anchor="ctr"/>
          <a:lstStyle/>
          <a:p>
            <a:pPr algn="ctr" indent="0" marL="0">
              <a:buNone/>
            </a:pPr>
            <a:r>
              <a:rPr lang="en-US" sz="1250" b="1" dirty="0">
                <a:solidFill>
                  <a:schemeClr val="accent2"/>
                </a:solidFill>
              </a:rPr>
              <a:t>Limite de tentatives</a:t>
            </a:r>
            <a:endParaRPr lang="en-US" sz="1250" dirty="0"/>
          </a:p>
        </p:txBody>
      </p:sp>
      <p:sp>
        <p:nvSpPr>
          <p:cNvPr id="27" name="Pastille"/>
          <p:cNvSpPr/>
          <p:nvPr/>
        </p:nvSpPr>
        <p:spPr>
          <a:xfrm>
            <a:off x="4809744" y="4983480"/>
            <a:ext cx="1832458"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28" name="Pastille texte"/>
          <p:cNvSpPr txBox="1"/>
          <p:nvPr/>
        </p:nvSpPr>
        <p:spPr>
          <a:xfrm>
            <a:off x="4809744" y="4983480"/>
            <a:ext cx="1832458" cy="347472"/>
          </a:xfrm>
          <a:prstGeom prst="rect">
            <a:avLst/>
          </a:prstGeom>
          <a:noFill/>
          <a:ln/>
        </p:spPr>
        <p:txBody>
          <a:bodyPr wrap="square" lIns="0" tIns="0" rIns="0" bIns="0" rtlCol="0" anchor="ctr"/>
          <a:lstStyle/>
          <a:p>
            <a:pPr algn="ctr" indent="0" marL="0">
              <a:buNone/>
            </a:pPr>
            <a:r>
              <a:rPr lang="en-US" sz="1250" b="1" dirty="0">
                <a:solidFill>
                  <a:schemeClr val="accent2"/>
                </a:solidFill>
              </a:rPr>
              <a:t>Requêtes préparées</a:t>
            </a:r>
            <a:endParaRPr lang="en-US" sz="1250" dirty="0"/>
          </a:p>
        </p:txBody>
      </p:sp>
      <p:sp>
        <p:nvSpPr>
          <p:cNvPr id="29" name="Pastille"/>
          <p:cNvSpPr/>
          <p:nvPr/>
        </p:nvSpPr>
        <p:spPr>
          <a:xfrm>
            <a:off x="548640" y="5486400"/>
            <a:ext cx="1751990"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30" name="Pastille texte"/>
          <p:cNvSpPr txBox="1"/>
          <p:nvPr/>
        </p:nvSpPr>
        <p:spPr>
          <a:xfrm>
            <a:off x="548640" y="5486400"/>
            <a:ext cx="1751990" cy="347472"/>
          </a:xfrm>
          <a:prstGeom prst="rect">
            <a:avLst/>
          </a:prstGeom>
          <a:noFill/>
          <a:ln/>
        </p:spPr>
        <p:txBody>
          <a:bodyPr wrap="square" lIns="0" tIns="0" rIns="0" bIns="0" rtlCol="0" anchor="ctr"/>
          <a:lstStyle/>
          <a:p>
            <a:pPr algn="ctr" indent="0" marL="0">
              <a:buNone/>
            </a:pPr>
            <a:r>
              <a:rPr lang="en-US" sz="1250" b="1" dirty="0">
                <a:solidFill>
                  <a:schemeClr val="accent2"/>
                </a:solidFill>
              </a:rPr>
              <a:t>Liens temporaires</a:t>
            </a:r>
            <a:endParaRPr lang="en-US" sz="1250" dirty="0"/>
          </a:p>
        </p:txBody>
      </p:sp>
      <p:sp>
        <p:nvSpPr>
          <p:cNvPr id="31" name="Pastille"/>
          <p:cNvSpPr/>
          <p:nvPr/>
        </p:nvSpPr>
        <p:spPr>
          <a:xfrm>
            <a:off x="2437790" y="5486400"/>
            <a:ext cx="1751990"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32" name="Pastille texte"/>
          <p:cNvSpPr txBox="1"/>
          <p:nvPr/>
        </p:nvSpPr>
        <p:spPr>
          <a:xfrm>
            <a:off x="2437790" y="5486400"/>
            <a:ext cx="1751990" cy="347472"/>
          </a:xfrm>
          <a:prstGeom prst="rect">
            <a:avLst/>
          </a:prstGeom>
          <a:noFill/>
          <a:ln/>
        </p:spPr>
        <p:txBody>
          <a:bodyPr wrap="square" lIns="0" tIns="0" rIns="0" bIns="0" rtlCol="0" anchor="ctr"/>
          <a:lstStyle/>
          <a:p>
            <a:pPr algn="ctr" indent="0" marL="0">
              <a:buNone/>
            </a:pPr>
            <a:r>
              <a:rPr lang="en-US" sz="1250" b="1" dirty="0">
                <a:solidFill>
                  <a:schemeClr val="accent2"/>
                </a:solidFill>
              </a:rPr>
              <a:t>Clés hors du code</a:t>
            </a:r>
            <a:endParaRPr lang="en-US" sz="1250" dirty="0"/>
          </a:p>
        </p:txBody>
      </p:sp>
      <p:sp>
        <p:nvSpPr>
          <p:cNvPr id="33" name="Pastille"/>
          <p:cNvSpPr/>
          <p:nvPr/>
        </p:nvSpPr>
        <p:spPr>
          <a:xfrm>
            <a:off x="4326941" y="5486400"/>
            <a:ext cx="1912925"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34" name="Pastille texte"/>
          <p:cNvSpPr txBox="1"/>
          <p:nvPr/>
        </p:nvSpPr>
        <p:spPr>
          <a:xfrm>
            <a:off x="4326941" y="5486400"/>
            <a:ext cx="1912925" cy="347472"/>
          </a:xfrm>
          <a:prstGeom prst="rect">
            <a:avLst/>
          </a:prstGeom>
          <a:noFill/>
          <a:ln/>
        </p:spPr>
        <p:txBody>
          <a:bodyPr wrap="square" lIns="0" tIns="0" rIns="0" bIns="0" rtlCol="0" anchor="ctr"/>
          <a:lstStyle/>
          <a:p>
            <a:pPr algn="ctr" indent="0" marL="0">
              <a:buNone/>
            </a:pPr>
            <a:r>
              <a:rPr lang="en-US" sz="1250" b="1" dirty="0">
                <a:solidFill>
                  <a:schemeClr val="accent2"/>
                </a:solidFill>
              </a:rPr>
              <a:t>Montants en DECIMAL</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METTRE À DISPOSITION</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Héberger, déployer, sauvegarder</a:t>
            </a:r>
            <a:endParaRPr lang="en-US" sz="3400" dirty="0"/>
          </a:p>
        </p:txBody>
      </p:sp>
      <p:sp>
        <p:nvSpPr>
          <p:cNvPr id="4" name="Carte"/>
          <p:cNvSpPr/>
          <p:nvPr/>
        </p:nvSpPr>
        <p:spPr>
          <a:xfrm>
            <a:off x="548640" y="1645920"/>
            <a:ext cx="3520440" cy="2514600"/>
          </a:xfrm>
          <a:prstGeom prst="roundRect">
            <a:avLst>
              <a:gd name="adj" fmla="val 4364"/>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5" name="Text 3"/>
          <p:cNvSpPr txBox="1"/>
          <p:nvPr/>
        </p:nvSpPr>
        <p:spPr>
          <a:xfrm>
            <a:off x="822960" y="1828800"/>
            <a:ext cx="3017520" cy="411480"/>
          </a:xfrm>
          <a:prstGeom prst="rect">
            <a:avLst/>
          </a:prstGeom>
          <a:noFill/>
          <a:ln/>
        </p:spPr>
        <p:txBody>
          <a:bodyPr wrap="square" lIns="0" tIns="0" rIns="0" bIns="0" rtlCol="0" anchor="t"/>
          <a:lstStyle/>
          <a:p>
            <a:pPr indent="0" marL="0">
              <a:buNone/>
            </a:pPr>
            <a:r>
              <a:rPr lang="en-US" sz="2000" b="1" dirty="0">
                <a:solidFill>
                  <a:schemeClr val="accent2"/>
                </a:solidFill>
                <a:latin typeface="Arial" pitchFamily="34" charset="0"/>
                <a:ea typeface="Arial" pitchFamily="34" charset="-122"/>
                <a:cs typeface="Arial" pitchFamily="34" charset="-120"/>
              </a:rPr>
              <a:t>Héberger</a:t>
            </a:r>
            <a:endParaRPr lang="en-US" sz="2000" dirty="0"/>
          </a:p>
        </p:txBody>
      </p:sp>
      <p:sp>
        <p:nvSpPr>
          <p:cNvPr id="6" name="Text 4"/>
          <p:cNvSpPr txBox="1"/>
          <p:nvPr/>
        </p:nvSpPr>
        <p:spPr>
          <a:xfrm>
            <a:off x="822960" y="2377440"/>
            <a:ext cx="306324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Scaleway, région Paris</a:t>
            </a:r>
            <a:endParaRPr lang="en-US" sz="1500" dirty="0"/>
          </a:p>
          <a:p>
            <a:pPr marL="342900" indent="-342900">
              <a:spcAft>
                <a:spcPts val="600"/>
              </a:spcAft>
              <a:buSzPct val="100000"/>
              <a:buChar char="•"/>
            </a:pPr>
            <a:r>
              <a:rPr lang="en-US" sz="1500" dirty="0">
                <a:solidFill>
                  <a:schemeClr val="tx1"/>
                </a:solidFill>
              </a:rPr>
              <a:t>Une installation par cabinet</a:t>
            </a:r>
            <a:endParaRPr lang="en-US" sz="1500" dirty="0"/>
          </a:p>
          <a:p>
            <a:pPr marL="342900" indent="-342900">
              <a:spcAft>
                <a:spcPts val="600"/>
              </a:spcAft>
              <a:buSzPct val="100000"/>
              <a:buChar char="•"/>
            </a:pPr>
            <a:r>
              <a:rPr lang="en-US" sz="1500" dirty="0">
                <a:solidFill>
                  <a:schemeClr val="tx1"/>
                </a:solidFill>
              </a:rPr>
              <a:t>Données jamais mélangées</a:t>
            </a:r>
            <a:endParaRPr lang="en-US" sz="1500" dirty="0"/>
          </a:p>
        </p:txBody>
      </p:sp>
      <p:sp>
        <p:nvSpPr>
          <p:cNvPr id="7" name="Carte"/>
          <p:cNvSpPr/>
          <p:nvPr/>
        </p:nvSpPr>
        <p:spPr>
          <a:xfrm>
            <a:off x="4315968" y="1645920"/>
            <a:ext cx="3520440" cy="2514600"/>
          </a:xfrm>
          <a:prstGeom prst="roundRect">
            <a:avLst>
              <a:gd name="adj" fmla="val 4364"/>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8" name="Text 6"/>
          <p:cNvSpPr txBox="1"/>
          <p:nvPr/>
        </p:nvSpPr>
        <p:spPr>
          <a:xfrm>
            <a:off x="4590288" y="1828800"/>
            <a:ext cx="3017520" cy="411480"/>
          </a:xfrm>
          <a:prstGeom prst="rect">
            <a:avLst/>
          </a:prstGeom>
          <a:noFill/>
          <a:ln/>
        </p:spPr>
        <p:txBody>
          <a:bodyPr wrap="square" lIns="0" tIns="0" rIns="0" bIns="0" rtlCol="0" anchor="t"/>
          <a:lstStyle/>
          <a:p>
            <a:pPr indent="0" marL="0">
              <a:buNone/>
            </a:pPr>
            <a:r>
              <a:rPr lang="en-US" sz="2000" b="1" dirty="0">
                <a:solidFill>
                  <a:schemeClr val="accent2"/>
                </a:solidFill>
                <a:latin typeface="Arial" pitchFamily="34" charset="0"/>
                <a:ea typeface="Arial" pitchFamily="34" charset="-122"/>
                <a:cs typeface="Arial" pitchFamily="34" charset="-120"/>
              </a:rPr>
              <a:t>Déployer</a:t>
            </a:r>
            <a:endParaRPr lang="en-US" sz="2000" dirty="0"/>
          </a:p>
        </p:txBody>
      </p:sp>
      <p:sp>
        <p:nvSpPr>
          <p:cNvPr id="9" name="Text 7"/>
          <p:cNvSpPr txBox="1"/>
          <p:nvPr/>
        </p:nvSpPr>
        <p:spPr>
          <a:xfrm>
            <a:off x="4590288" y="2377440"/>
            <a:ext cx="306324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Docker Compose : un cabinet = une copie</a:t>
            </a:r>
            <a:endParaRPr lang="en-US" sz="1500" dirty="0"/>
          </a:p>
          <a:p>
            <a:pPr marL="342900" indent="-342900">
              <a:spcAft>
                <a:spcPts val="600"/>
              </a:spcAft>
              <a:buSzPct val="100000"/>
              <a:buChar char="•"/>
            </a:pPr>
            <a:r>
              <a:rPr lang="en-US" sz="1500" dirty="0">
                <a:solidFill>
                  <a:schemeClr val="tx1"/>
                </a:solidFill>
              </a:rPr>
              <a:t>Même version pour tous</a:t>
            </a:r>
            <a:endParaRPr lang="en-US" sz="1500" dirty="0"/>
          </a:p>
          <a:p>
            <a:pPr marL="342900" indent="-342900">
              <a:spcAft>
                <a:spcPts val="600"/>
              </a:spcAft>
              <a:buSzPct val="100000"/>
              <a:buChar char="•"/>
            </a:pPr>
            <a:r>
              <a:rPr lang="en-US" sz="1500" dirty="0">
                <a:solidFill>
                  <a:schemeClr val="tx1"/>
                </a:solidFill>
              </a:rPr>
              <a:t>Migrations au démarrage</a:t>
            </a:r>
            <a:endParaRPr lang="en-US" sz="1500" dirty="0"/>
          </a:p>
        </p:txBody>
      </p:sp>
      <p:sp>
        <p:nvSpPr>
          <p:cNvPr id="10" name="Carte"/>
          <p:cNvSpPr/>
          <p:nvPr/>
        </p:nvSpPr>
        <p:spPr>
          <a:xfrm>
            <a:off x="8083296" y="1645920"/>
            <a:ext cx="3520440" cy="2514600"/>
          </a:xfrm>
          <a:prstGeom prst="roundRect">
            <a:avLst>
              <a:gd name="adj" fmla="val 4364"/>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11" name="Text 9"/>
          <p:cNvSpPr txBox="1"/>
          <p:nvPr/>
        </p:nvSpPr>
        <p:spPr>
          <a:xfrm>
            <a:off x="8357616" y="1828800"/>
            <a:ext cx="3017520" cy="411480"/>
          </a:xfrm>
          <a:prstGeom prst="rect">
            <a:avLst/>
          </a:prstGeom>
          <a:noFill/>
          <a:ln/>
        </p:spPr>
        <p:txBody>
          <a:bodyPr wrap="square" lIns="0" tIns="0" rIns="0" bIns="0" rtlCol="0" anchor="t"/>
          <a:lstStyle/>
          <a:p>
            <a:pPr indent="0" marL="0">
              <a:buNone/>
            </a:pPr>
            <a:r>
              <a:rPr lang="en-US" sz="2000" b="1" dirty="0">
                <a:solidFill>
                  <a:schemeClr val="accent2"/>
                </a:solidFill>
                <a:latin typeface="Arial" pitchFamily="34" charset="0"/>
                <a:ea typeface="Arial" pitchFamily="34" charset="-122"/>
                <a:cs typeface="Arial" pitchFamily="34" charset="-120"/>
              </a:rPr>
              <a:t>Sauvegarder</a:t>
            </a:r>
            <a:endParaRPr lang="en-US" sz="2000" dirty="0"/>
          </a:p>
        </p:txBody>
      </p:sp>
      <p:sp>
        <p:nvSpPr>
          <p:cNvPr id="12" name="Text 10"/>
          <p:cNvSpPr txBox="1"/>
          <p:nvPr/>
        </p:nvSpPr>
        <p:spPr>
          <a:xfrm>
            <a:off x="8357616" y="2377440"/>
            <a:ext cx="306324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Une sauvegarde par jour</a:t>
            </a:r>
            <a:endParaRPr lang="en-US" sz="1500" dirty="0"/>
          </a:p>
          <a:p>
            <a:pPr marL="342900" indent="-342900">
              <a:spcAft>
                <a:spcPts val="600"/>
              </a:spcAft>
              <a:buSzPct val="100000"/>
              <a:buChar char="•"/>
            </a:pPr>
            <a:r>
              <a:rPr lang="en-US" sz="1500" dirty="0">
                <a:solidFill>
                  <a:schemeClr val="tx1"/>
                </a:solidFill>
              </a:rPr>
              <a:t>Gardée 30 jours</a:t>
            </a:r>
            <a:endParaRPr lang="en-US" sz="1500" dirty="0"/>
          </a:p>
          <a:p>
            <a:pPr marL="342900" indent="-342900">
              <a:spcAft>
                <a:spcPts val="600"/>
              </a:spcAft>
              <a:buSzPct val="100000"/>
              <a:buChar char="•"/>
            </a:pPr>
            <a:r>
              <a:rPr lang="en-US" sz="1500" dirty="0">
                <a:solidFill>
                  <a:schemeClr val="tx1"/>
                </a:solidFill>
              </a:rPr>
              <a:t>Restauration testée</a:t>
            </a:r>
            <a:endParaRPr lang="en-US" sz="1500" dirty="0"/>
          </a:p>
        </p:txBody>
      </p:sp>
      <p:sp>
        <p:nvSpPr>
          <p:cNvPr id="13" name="Carte"/>
          <p:cNvSpPr/>
          <p:nvPr/>
        </p:nvSpPr>
        <p:spPr>
          <a:xfrm>
            <a:off x="548640" y="4434840"/>
            <a:ext cx="11094415" cy="1051560"/>
          </a:xfrm>
          <a:prstGeom prst="roundRect">
            <a:avLst>
              <a:gd name="adj" fmla="val 10435"/>
            </a:avLst>
          </a:prstGeom>
          <a:solidFill>
            <a:schemeClr val="bg2"/>
          </a:solidFill>
          <a:ln w="12700">
            <a:solidFill>
              <a:schemeClr val="bg2"/>
            </a:solidFill>
            <a:prstDash val="solid"/>
          </a:ln>
        </p:spPr>
      </p:sp>
      <p:sp>
        <p:nvSpPr>
          <p:cNvPr id="14" name="Text 12"/>
          <p:cNvSpPr txBox="1"/>
          <p:nvPr/>
        </p:nvSpPr>
        <p:spPr>
          <a:xfrm>
            <a:off x="822960" y="4434840"/>
            <a:ext cx="1280160" cy="105156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RGPD</a:t>
            </a:r>
            <a:endParaRPr lang="en-US" sz="2400" dirty="0"/>
          </a:p>
        </p:txBody>
      </p:sp>
      <p:sp>
        <p:nvSpPr>
          <p:cNvPr id="15" name="Text 13"/>
          <p:cNvSpPr txBox="1"/>
          <p:nvPr/>
        </p:nvSpPr>
        <p:spPr>
          <a:xfrm>
            <a:off x="2194560" y="4434840"/>
            <a:ext cx="9235440" cy="1051560"/>
          </a:xfrm>
          <a:prstGeom prst="rect">
            <a:avLst/>
          </a:prstGeom>
          <a:noFill/>
          <a:ln/>
        </p:spPr>
        <p:txBody>
          <a:bodyPr wrap="square" lIns="0" tIns="0" rIns="0" bIns="0" rtlCol="0" anchor="ctr"/>
          <a:lstStyle/>
          <a:p>
            <a:pPr indent="0" marL="0">
              <a:buNone/>
            </a:pPr>
            <a:r>
              <a:rPr lang="en-US" sz="1500" dirty="0">
                <a:solidFill>
                  <a:schemeClr val="tx1"/>
                </a:solidFill>
              </a:rPr>
              <a:t>Données en France, collecte limitée au nécessaire, export et suppression sur demande, données fictives pour le développement et la démonstration.</a:t>
            </a:r>
            <a:endParaRPr lang="en-US" sz="1500" dirty="0"/>
          </a:p>
        </p:txBody>
      </p:sp>
      <p:sp>
        <p:nvSpPr>
          <p:cNvPr id="16" name="Pastille"/>
          <p:cNvSpPr/>
          <p:nvPr/>
        </p:nvSpPr>
        <p:spPr>
          <a:xfrm>
            <a:off x="548640" y="5760720"/>
            <a:ext cx="1430122"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17" name="Pastille texte"/>
          <p:cNvSpPr txBox="1"/>
          <p:nvPr/>
        </p:nvSpPr>
        <p:spPr>
          <a:xfrm>
            <a:off x="548640" y="5760720"/>
            <a:ext cx="1430122" cy="347472"/>
          </a:xfrm>
          <a:prstGeom prst="rect">
            <a:avLst/>
          </a:prstGeom>
          <a:noFill/>
          <a:ln/>
        </p:spPr>
        <p:txBody>
          <a:bodyPr wrap="square" lIns="0" tIns="0" rIns="0" bIns="0" rtlCol="0" anchor="ctr"/>
          <a:lstStyle/>
          <a:p>
            <a:pPr algn="ctr" indent="0" marL="0">
              <a:buNone/>
            </a:pPr>
            <a:r>
              <a:rPr lang="en-US" sz="1250" b="1" dirty="0">
                <a:solidFill>
                  <a:schemeClr val="accent2"/>
                </a:solidFill>
              </a:rPr>
              <a:t>Sous-traitant</a:t>
            </a:r>
            <a:endParaRPr lang="en-US" sz="1250" dirty="0"/>
          </a:p>
        </p:txBody>
      </p:sp>
      <p:sp>
        <p:nvSpPr>
          <p:cNvPr id="18" name="Pastille"/>
          <p:cNvSpPr/>
          <p:nvPr/>
        </p:nvSpPr>
        <p:spPr>
          <a:xfrm>
            <a:off x="2115922" y="5760720"/>
            <a:ext cx="1993392"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19" name="Pastille texte"/>
          <p:cNvSpPr txBox="1"/>
          <p:nvPr/>
        </p:nvSpPr>
        <p:spPr>
          <a:xfrm>
            <a:off x="2115922" y="5760720"/>
            <a:ext cx="1993392" cy="347472"/>
          </a:xfrm>
          <a:prstGeom prst="rect">
            <a:avLst/>
          </a:prstGeom>
          <a:noFill/>
          <a:ln/>
        </p:spPr>
        <p:txBody>
          <a:bodyPr wrap="square" lIns="0" tIns="0" rIns="0" bIns="0" rtlCol="0" anchor="ctr"/>
          <a:lstStyle/>
          <a:p>
            <a:pPr algn="ctr" indent="0" marL="0">
              <a:buNone/>
            </a:pPr>
            <a:r>
              <a:rPr lang="en-US" sz="1250" b="1" dirty="0">
                <a:solidFill>
                  <a:schemeClr val="accent2"/>
                </a:solidFill>
              </a:rPr>
              <a:t>Trois environnements</a:t>
            </a:r>
            <a:endParaRPr lang="en-US" sz="1250" dirty="0"/>
          </a:p>
        </p:txBody>
      </p:sp>
      <p:sp>
        <p:nvSpPr>
          <p:cNvPr id="20" name="Pastille"/>
          <p:cNvSpPr/>
          <p:nvPr/>
        </p:nvSpPr>
        <p:spPr>
          <a:xfrm>
            <a:off x="4246474" y="5760720"/>
            <a:ext cx="3280867"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21" name="Pastille texte"/>
          <p:cNvSpPr txBox="1"/>
          <p:nvPr/>
        </p:nvSpPr>
        <p:spPr>
          <a:xfrm>
            <a:off x="4246474" y="5760720"/>
            <a:ext cx="3280867" cy="347472"/>
          </a:xfrm>
          <a:prstGeom prst="rect">
            <a:avLst/>
          </a:prstGeom>
          <a:noFill/>
          <a:ln/>
        </p:spPr>
        <p:txBody>
          <a:bodyPr wrap="square" lIns="0" tIns="0" rIns="0" bIns="0" rtlCol="0" anchor="ctr"/>
          <a:lstStyle/>
          <a:p>
            <a:pPr algn="ctr" indent="0" marL="0">
              <a:buNone/>
            </a:pPr>
            <a:r>
              <a:rPr lang="en-US" sz="1250" b="1" dirty="0">
                <a:solidFill>
                  <a:schemeClr val="accent2"/>
                </a:solidFill>
              </a:rPr>
              <a:t>Une sauvegarde qui n'est pas testée…</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OÙ J'EN SUIS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La conception est faite, le développement commence</a:t>
            </a:r>
            <a:endParaRPr lang="en-US" sz="3400" dirty="0"/>
          </a:p>
        </p:txBody>
      </p:sp>
      <p:sp>
        <p:nvSpPr>
          <p:cNvPr id="4" name="Étape"/>
          <p:cNvSpPr/>
          <p:nvPr/>
        </p:nvSpPr>
        <p:spPr>
          <a:xfrm>
            <a:off x="548640" y="1783080"/>
            <a:ext cx="1475188" cy="146304"/>
          </a:xfrm>
          <a:prstGeom prst="roundRect">
            <a:avLst>
              <a:gd name="adj" fmla="val 50000"/>
            </a:avLst>
          </a:prstGeom>
          <a:solidFill>
            <a:schemeClr val="accent4"/>
          </a:solidFill>
          <a:ln w="12700">
            <a:solidFill>
              <a:schemeClr val="accent4"/>
            </a:solidFill>
            <a:prstDash val="solid"/>
          </a:ln>
        </p:spPr>
      </p:sp>
      <p:sp>
        <p:nvSpPr>
          <p:cNvPr id="5" name="Text 3"/>
          <p:cNvSpPr txBox="1"/>
          <p:nvPr/>
        </p:nvSpPr>
        <p:spPr>
          <a:xfrm>
            <a:off x="548640" y="2057400"/>
            <a:ext cx="1475188" cy="274320"/>
          </a:xfrm>
          <a:prstGeom prst="rect">
            <a:avLst/>
          </a:prstGeom>
          <a:noFill/>
          <a:ln/>
        </p:spPr>
        <p:txBody>
          <a:bodyPr wrap="square" lIns="0" tIns="0" rIns="0" bIns="0" rtlCol="0" anchor="t"/>
          <a:lstStyle/>
          <a:p>
            <a:pPr indent="0" marL="0">
              <a:buNone/>
            </a:pPr>
            <a:r>
              <a:rPr lang="en-US" sz="1200" b="1" dirty="0">
                <a:solidFill>
                  <a:schemeClr val="accent4"/>
                </a:solidFill>
              </a:rPr>
              <a:t>Fait</a:t>
            </a:r>
            <a:endParaRPr lang="en-US" sz="1200" dirty="0"/>
          </a:p>
        </p:txBody>
      </p:sp>
      <p:sp>
        <p:nvSpPr>
          <p:cNvPr id="6" name="Text 4"/>
          <p:cNvSpPr txBox="1"/>
          <p:nvPr/>
        </p:nvSpPr>
        <p:spPr>
          <a:xfrm>
            <a:off x="548640"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Cahier des charges</a:t>
            </a:r>
            <a:endParaRPr lang="en-US" sz="1500" dirty="0"/>
          </a:p>
        </p:txBody>
      </p:sp>
      <p:sp>
        <p:nvSpPr>
          <p:cNvPr id="7" name="Étape"/>
          <p:cNvSpPr/>
          <p:nvPr/>
        </p:nvSpPr>
        <p:spPr>
          <a:xfrm>
            <a:off x="2133556" y="1783080"/>
            <a:ext cx="1475188" cy="146304"/>
          </a:xfrm>
          <a:prstGeom prst="roundRect">
            <a:avLst>
              <a:gd name="adj" fmla="val 50000"/>
            </a:avLst>
          </a:prstGeom>
          <a:solidFill>
            <a:schemeClr val="accent4"/>
          </a:solidFill>
          <a:ln w="12700">
            <a:solidFill>
              <a:schemeClr val="accent4"/>
            </a:solidFill>
            <a:prstDash val="solid"/>
          </a:ln>
        </p:spPr>
      </p:sp>
      <p:sp>
        <p:nvSpPr>
          <p:cNvPr id="8" name="Text 6"/>
          <p:cNvSpPr txBox="1"/>
          <p:nvPr/>
        </p:nvSpPr>
        <p:spPr>
          <a:xfrm>
            <a:off x="2133556" y="2057400"/>
            <a:ext cx="1475188" cy="274320"/>
          </a:xfrm>
          <a:prstGeom prst="rect">
            <a:avLst/>
          </a:prstGeom>
          <a:noFill/>
          <a:ln/>
        </p:spPr>
        <p:txBody>
          <a:bodyPr wrap="square" lIns="0" tIns="0" rIns="0" bIns="0" rtlCol="0" anchor="t"/>
          <a:lstStyle/>
          <a:p>
            <a:pPr indent="0" marL="0">
              <a:buNone/>
            </a:pPr>
            <a:r>
              <a:rPr lang="en-US" sz="1200" b="1" dirty="0">
                <a:solidFill>
                  <a:schemeClr val="accent4"/>
                </a:solidFill>
              </a:rPr>
              <a:t>Fait</a:t>
            </a:r>
            <a:endParaRPr lang="en-US" sz="1200" dirty="0"/>
          </a:p>
        </p:txBody>
      </p:sp>
      <p:sp>
        <p:nvSpPr>
          <p:cNvPr id="9" name="Text 7"/>
          <p:cNvSpPr txBox="1"/>
          <p:nvPr/>
        </p:nvSpPr>
        <p:spPr>
          <a:xfrm>
            <a:off x="2133556"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Cahier technique</a:t>
            </a:r>
            <a:endParaRPr lang="en-US" sz="1500" dirty="0"/>
          </a:p>
        </p:txBody>
      </p:sp>
      <p:sp>
        <p:nvSpPr>
          <p:cNvPr id="10" name="Étape"/>
          <p:cNvSpPr/>
          <p:nvPr/>
        </p:nvSpPr>
        <p:spPr>
          <a:xfrm>
            <a:off x="3718473" y="1783080"/>
            <a:ext cx="1475188" cy="146304"/>
          </a:xfrm>
          <a:prstGeom prst="roundRect">
            <a:avLst>
              <a:gd name="adj" fmla="val 50000"/>
            </a:avLst>
          </a:prstGeom>
          <a:solidFill>
            <a:schemeClr val="accent2"/>
          </a:solidFill>
          <a:ln w="12700">
            <a:solidFill>
              <a:schemeClr val="accent2"/>
            </a:solidFill>
            <a:prstDash val="solid"/>
          </a:ln>
        </p:spPr>
      </p:sp>
      <p:sp>
        <p:nvSpPr>
          <p:cNvPr id="11" name="Text 9"/>
          <p:cNvSpPr txBox="1"/>
          <p:nvPr/>
        </p:nvSpPr>
        <p:spPr>
          <a:xfrm>
            <a:off x="3718473" y="2057400"/>
            <a:ext cx="1475188" cy="274320"/>
          </a:xfrm>
          <a:prstGeom prst="rect">
            <a:avLst/>
          </a:prstGeom>
          <a:noFill/>
          <a:ln/>
        </p:spPr>
        <p:txBody>
          <a:bodyPr wrap="square" lIns="0" tIns="0" rIns="0" bIns="0" rtlCol="0" anchor="t"/>
          <a:lstStyle/>
          <a:p>
            <a:pPr indent="0" marL="0">
              <a:buNone/>
            </a:pPr>
            <a:r>
              <a:rPr lang="en-US" sz="1200" b="1" dirty="0">
                <a:solidFill>
                  <a:schemeClr val="accent2"/>
                </a:solidFill>
              </a:rPr>
              <a:t>Prochaine étape</a:t>
            </a:r>
            <a:endParaRPr lang="en-US" sz="1200" dirty="0"/>
          </a:p>
        </p:txBody>
      </p:sp>
      <p:sp>
        <p:nvSpPr>
          <p:cNvPr id="12" name="Text 10"/>
          <p:cNvSpPr txBox="1"/>
          <p:nvPr/>
        </p:nvSpPr>
        <p:spPr>
          <a:xfrm>
            <a:off x="3718473"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MCD et MLD</a:t>
            </a:r>
            <a:endParaRPr lang="en-US" sz="1500" dirty="0"/>
          </a:p>
        </p:txBody>
      </p:sp>
      <p:sp>
        <p:nvSpPr>
          <p:cNvPr id="13" name="Étape"/>
          <p:cNvSpPr/>
          <p:nvPr/>
        </p:nvSpPr>
        <p:spPr>
          <a:xfrm>
            <a:off x="5303389" y="1783080"/>
            <a:ext cx="1475188" cy="146304"/>
          </a:xfrm>
          <a:prstGeom prst="roundRect">
            <a:avLst>
              <a:gd name="adj" fmla="val 50000"/>
            </a:avLst>
          </a:prstGeom>
          <a:solidFill>
            <a:schemeClr val="accent6"/>
          </a:solidFill>
          <a:ln w="12700">
            <a:solidFill>
              <a:schemeClr val="accent6"/>
            </a:solidFill>
            <a:prstDash val="solid"/>
          </a:ln>
        </p:spPr>
      </p:sp>
      <p:sp>
        <p:nvSpPr>
          <p:cNvPr id="14" name="Text 12"/>
          <p:cNvSpPr txBox="1"/>
          <p:nvPr/>
        </p:nvSpPr>
        <p:spPr>
          <a:xfrm>
            <a:off x="5303389" y="2057400"/>
            <a:ext cx="1475188" cy="274320"/>
          </a:xfrm>
          <a:prstGeom prst="rect">
            <a:avLst/>
          </a:prstGeom>
          <a:noFill/>
          <a:ln/>
        </p:spPr>
        <p:txBody>
          <a:bodyPr wrap="square" lIns="0" tIns="0" rIns="0" bIns="0" rtlCol="0" anchor="t"/>
          <a:lstStyle/>
          <a:p>
            <a:pPr indent="0" marL="0">
              <a:buNone/>
            </a:pPr>
            <a:r>
              <a:rPr lang="en-US" sz="1200" b="1" dirty="0">
                <a:solidFill>
                  <a:schemeClr val="accent5"/>
                </a:solidFill>
              </a:rPr>
              <a:t>À venir</a:t>
            </a:r>
            <a:endParaRPr lang="en-US" sz="1200" dirty="0"/>
          </a:p>
        </p:txBody>
      </p:sp>
      <p:sp>
        <p:nvSpPr>
          <p:cNvPr id="15" name="Text 13"/>
          <p:cNvSpPr txBox="1"/>
          <p:nvPr/>
        </p:nvSpPr>
        <p:spPr>
          <a:xfrm>
            <a:off x="5303389"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Script SQL et données fictives</a:t>
            </a:r>
            <a:endParaRPr lang="en-US" sz="1500" dirty="0"/>
          </a:p>
        </p:txBody>
      </p:sp>
      <p:sp>
        <p:nvSpPr>
          <p:cNvPr id="16" name="Étape"/>
          <p:cNvSpPr/>
          <p:nvPr/>
        </p:nvSpPr>
        <p:spPr>
          <a:xfrm>
            <a:off x="6888306" y="1783080"/>
            <a:ext cx="1475188" cy="146304"/>
          </a:xfrm>
          <a:prstGeom prst="roundRect">
            <a:avLst>
              <a:gd name="adj" fmla="val 50000"/>
            </a:avLst>
          </a:prstGeom>
          <a:solidFill>
            <a:schemeClr val="accent6"/>
          </a:solidFill>
          <a:ln w="12700">
            <a:solidFill>
              <a:schemeClr val="accent6"/>
            </a:solidFill>
            <a:prstDash val="solid"/>
          </a:ln>
        </p:spPr>
      </p:sp>
      <p:sp>
        <p:nvSpPr>
          <p:cNvPr id="17" name="Text 15"/>
          <p:cNvSpPr txBox="1"/>
          <p:nvPr/>
        </p:nvSpPr>
        <p:spPr>
          <a:xfrm>
            <a:off x="6888306" y="2057400"/>
            <a:ext cx="1475188" cy="274320"/>
          </a:xfrm>
          <a:prstGeom prst="rect">
            <a:avLst/>
          </a:prstGeom>
          <a:noFill/>
          <a:ln/>
        </p:spPr>
        <p:txBody>
          <a:bodyPr wrap="square" lIns="0" tIns="0" rIns="0" bIns="0" rtlCol="0" anchor="t"/>
          <a:lstStyle/>
          <a:p>
            <a:pPr indent="0" marL="0">
              <a:buNone/>
            </a:pPr>
            <a:r>
              <a:rPr lang="en-US" sz="1200" b="1" dirty="0">
                <a:solidFill>
                  <a:schemeClr val="accent5"/>
                </a:solidFill>
              </a:rPr>
              <a:t>À venir</a:t>
            </a:r>
            <a:endParaRPr lang="en-US" sz="1200" dirty="0"/>
          </a:p>
        </p:txBody>
      </p:sp>
      <p:sp>
        <p:nvSpPr>
          <p:cNvPr id="18" name="Text 16"/>
          <p:cNvSpPr txBox="1"/>
          <p:nvPr/>
        </p:nvSpPr>
        <p:spPr>
          <a:xfrm>
            <a:off x="6888306"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API et ses tests</a:t>
            </a:r>
            <a:endParaRPr lang="en-US" sz="1500" dirty="0"/>
          </a:p>
        </p:txBody>
      </p:sp>
      <p:sp>
        <p:nvSpPr>
          <p:cNvPr id="19" name="Étape"/>
          <p:cNvSpPr/>
          <p:nvPr/>
        </p:nvSpPr>
        <p:spPr>
          <a:xfrm>
            <a:off x="8473222" y="1783080"/>
            <a:ext cx="1475188" cy="146304"/>
          </a:xfrm>
          <a:prstGeom prst="roundRect">
            <a:avLst>
              <a:gd name="adj" fmla="val 50000"/>
            </a:avLst>
          </a:prstGeom>
          <a:solidFill>
            <a:schemeClr val="accent6"/>
          </a:solidFill>
          <a:ln w="12700">
            <a:solidFill>
              <a:schemeClr val="accent6"/>
            </a:solidFill>
            <a:prstDash val="solid"/>
          </a:ln>
        </p:spPr>
      </p:sp>
      <p:sp>
        <p:nvSpPr>
          <p:cNvPr id="20" name="Text 18"/>
          <p:cNvSpPr txBox="1"/>
          <p:nvPr/>
        </p:nvSpPr>
        <p:spPr>
          <a:xfrm>
            <a:off x="8473222" y="2057400"/>
            <a:ext cx="1475188" cy="274320"/>
          </a:xfrm>
          <a:prstGeom prst="rect">
            <a:avLst/>
          </a:prstGeom>
          <a:noFill/>
          <a:ln/>
        </p:spPr>
        <p:txBody>
          <a:bodyPr wrap="square" lIns="0" tIns="0" rIns="0" bIns="0" rtlCol="0" anchor="t"/>
          <a:lstStyle/>
          <a:p>
            <a:pPr indent="0" marL="0">
              <a:buNone/>
            </a:pPr>
            <a:r>
              <a:rPr lang="en-US" sz="1200" b="1" dirty="0">
                <a:solidFill>
                  <a:schemeClr val="accent5"/>
                </a:solidFill>
              </a:rPr>
              <a:t>À venir</a:t>
            </a:r>
            <a:endParaRPr lang="en-US" sz="1200" dirty="0"/>
          </a:p>
        </p:txBody>
      </p:sp>
      <p:sp>
        <p:nvSpPr>
          <p:cNvPr id="21" name="Text 19"/>
          <p:cNvSpPr txBox="1"/>
          <p:nvPr/>
        </p:nvSpPr>
        <p:spPr>
          <a:xfrm>
            <a:off x="8473222"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Écrans Flutter</a:t>
            </a:r>
            <a:endParaRPr lang="en-US" sz="1500" dirty="0"/>
          </a:p>
        </p:txBody>
      </p:sp>
      <p:sp>
        <p:nvSpPr>
          <p:cNvPr id="22" name="Étape"/>
          <p:cNvSpPr/>
          <p:nvPr/>
        </p:nvSpPr>
        <p:spPr>
          <a:xfrm>
            <a:off x="10058139" y="1783080"/>
            <a:ext cx="1475188" cy="146304"/>
          </a:xfrm>
          <a:prstGeom prst="roundRect">
            <a:avLst>
              <a:gd name="adj" fmla="val 50000"/>
            </a:avLst>
          </a:prstGeom>
          <a:solidFill>
            <a:schemeClr val="accent6"/>
          </a:solidFill>
          <a:ln w="12700">
            <a:solidFill>
              <a:schemeClr val="accent6"/>
            </a:solidFill>
            <a:prstDash val="solid"/>
          </a:ln>
        </p:spPr>
      </p:sp>
      <p:sp>
        <p:nvSpPr>
          <p:cNvPr id="23" name="Text 21"/>
          <p:cNvSpPr txBox="1"/>
          <p:nvPr/>
        </p:nvSpPr>
        <p:spPr>
          <a:xfrm>
            <a:off x="10058139" y="2057400"/>
            <a:ext cx="1475188" cy="274320"/>
          </a:xfrm>
          <a:prstGeom prst="rect">
            <a:avLst/>
          </a:prstGeom>
          <a:noFill/>
          <a:ln/>
        </p:spPr>
        <p:txBody>
          <a:bodyPr wrap="square" lIns="0" tIns="0" rIns="0" bIns="0" rtlCol="0" anchor="t"/>
          <a:lstStyle/>
          <a:p>
            <a:pPr indent="0" marL="0">
              <a:buNone/>
            </a:pPr>
            <a:r>
              <a:rPr lang="en-US" sz="1200" b="1" dirty="0">
                <a:solidFill>
                  <a:schemeClr val="accent5"/>
                </a:solidFill>
              </a:rPr>
              <a:t>À venir</a:t>
            </a:r>
            <a:endParaRPr lang="en-US" sz="1200" dirty="0"/>
          </a:p>
        </p:txBody>
      </p:sp>
      <p:sp>
        <p:nvSpPr>
          <p:cNvPr id="24" name="Text 22"/>
          <p:cNvSpPr txBox="1"/>
          <p:nvPr/>
        </p:nvSpPr>
        <p:spPr>
          <a:xfrm>
            <a:off x="10058139" y="2377440"/>
            <a:ext cx="1402036" cy="822960"/>
          </a:xfrm>
          <a:prstGeom prst="rect">
            <a:avLst/>
          </a:prstGeom>
          <a:noFill/>
          <a:ln/>
        </p:spPr>
        <p:txBody>
          <a:bodyPr wrap="square" lIns="0" tIns="0" rIns="0" bIns="0" rtlCol="0" anchor="t"/>
          <a:lstStyle/>
          <a:p>
            <a:pPr indent="0" marL="0">
              <a:buNone/>
            </a:pPr>
            <a:r>
              <a:rPr lang="en-US" sz="1500" b="1" dirty="0">
                <a:solidFill>
                  <a:schemeClr val="tx1"/>
                </a:solidFill>
              </a:rPr>
              <a:t>Recette avec le client</a:t>
            </a:r>
            <a:endParaRPr lang="en-US" sz="1500" dirty="0"/>
          </a:p>
        </p:txBody>
      </p:sp>
      <p:sp>
        <p:nvSpPr>
          <p:cNvPr id="25" name="Carte"/>
          <p:cNvSpPr/>
          <p:nvPr/>
        </p:nvSpPr>
        <p:spPr>
          <a:xfrm>
            <a:off x="548640" y="3520440"/>
            <a:ext cx="2606040" cy="1508760"/>
          </a:xfrm>
          <a:prstGeom prst="roundRect">
            <a:avLst>
              <a:gd name="adj" fmla="val 7273"/>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26" name="Text 24"/>
          <p:cNvSpPr txBox="1"/>
          <p:nvPr/>
        </p:nvSpPr>
        <p:spPr>
          <a:xfrm>
            <a:off x="822960" y="3657600"/>
            <a:ext cx="2103120" cy="77724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10</a:t>
            </a:r>
            <a:endParaRPr lang="en-US" sz="4400" dirty="0"/>
          </a:p>
        </p:txBody>
      </p:sp>
      <p:sp>
        <p:nvSpPr>
          <p:cNvPr id="27" name="Text 25"/>
          <p:cNvSpPr txBox="1"/>
          <p:nvPr/>
        </p:nvSpPr>
        <p:spPr>
          <a:xfrm>
            <a:off x="822960" y="4480560"/>
            <a:ext cx="2194560" cy="411480"/>
          </a:xfrm>
          <a:prstGeom prst="rect">
            <a:avLst/>
          </a:prstGeom>
          <a:noFill/>
          <a:ln/>
        </p:spPr>
        <p:txBody>
          <a:bodyPr wrap="square" lIns="0" tIns="0" rIns="0" bIns="0" rtlCol="0" anchor="t"/>
          <a:lstStyle/>
          <a:p>
            <a:pPr indent="0" marL="0">
              <a:buNone/>
            </a:pPr>
            <a:r>
              <a:rPr lang="en-US" sz="1500" dirty="0">
                <a:solidFill>
                  <a:schemeClr val="accent5"/>
                </a:solidFill>
              </a:rPr>
              <a:t>fonctionnalités</a:t>
            </a:r>
            <a:endParaRPr lang="en-US" sz="1500" dirty="0"/>
          </a:p>
        </p:txBody>
      </p:sp>
      <p:sp>
        <p:nvSpPr>
          <p:cNvPr id="28" name="Carte"/>
          <p:cNvSpPr/>
          <p:nvPr/>
        </p:nvSpPr>
        <p:spPr>
          <a:xfrm>
            <a:off x="3355848" y="3520440"/>
            <a:ext cx="2606040" cy="1508760"/>
          </a:xfrm>
          <a:prstGeom prst="roundRect">
            <a:avLst>
              <a:gd name="adj" fmla="val 7273"/>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29" name="Text 27"/>
          <p:cNvSpPr txBox="1"/>
          <p:nvPr/>
        </p:nvSpPr>
        <p:spPr>
          <a:xfrm>
            <a:off x="3630168" y="3657600"/>
            <a:ext cx="2103120" cy="77724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2</a:t>
            </a:r>
            <a:endParaRPr lang="en-US" sz="4400" dirty="0"/>
          </a:p>
        </p:txBody>
      </p:sp>
      <p:sp>
        <p:nvSpPr>
          <p:cNvPr id="30" name="Text 28"/>
          <p:cNvSpPr txBox="1"/>
          <p:nvPr/>
        </p:nvSpPr>
        <p:spPr>
          <a:xfrm>
            <a:off x="3630168" y="4480560"/>
            <a:ext cx="2194560" cy="411480"/>
          </a:xfrm>
          <a:prstGeom prst="rect">
            <a:avLst/>
          </a:prstGeom>
          <a:noFill/>
          <a:ln/>
        </p:spPr>
        <p:txBody>
          <a:bodyPr wrap="square" lIns="0" tIns="0" rIns="0" bIns="0" rtlCol="0" anchor="t"/>
          <a:lstStyle/>
          <a:p>
            <a:pPr indent="0" marL="0">
              <a:buNone/>
            </a:pPr>
            <a:r>
              <a:rPr lang="en-US" sz="1500" dirty="0">
                <a:solidFill>
                  <a:schemeClr val="accent5"/>
                </a:solidFill>
              </a:rPr>
              <a:t>rôles</a:t>
            </a:r>
            <a:endParaRPr lang="en-US" sz="1500" dirty="0"/>
          </a:p>
        </p:txBody>
      </p:sp>
      <p:sp>
        <p:nvSpPr>
          <p:cNvPr id="31" name="Carte"/>
          <p:cNvSpPr/>
          <p:nvPr/>
        </p:nvSpPr>
        <p:spPr>
          <a:xfrm>
            <a:off x="6163056" y="3520440"/>
            <a:ext cx="2606040" cy="1508760"/>
          </a:xfrm>
          <a:prstGeom prst="roundRect">
            <a:avLst>
              <a:gd name="adj" fmla="val 7273"/>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32" name="Text 30"/>
          <p:cNvSpPr txBox="1"/>
          <p:nvPr/>
        </p:nvSpPr>
        <p:spPr>
          <a:xfrm>
            <a:off x="6437376" y="3657600"/>
            <a:ext cx="2103120" cy="77724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4</a:t>
            </a:r>
            <a:endParaRPr lang="en-US" sz="4400" dirty="0"/>
          </a:p>
        </p:txBody>
      </p:sp>
      <p:sp>
        <p:nvSpPr>
          <p:cNvPr id="33" name="Text 31"/>
          <p:cNvSpPr txBox="1"/>
          <p:nvPr/>
        </p:nvSpPr>
        <p:spPr>
          <a:xfrm>
            <a:off x="6437376" y="4480560"/>
            <a:ext cx="2194560" cy="411480"/>
          </a:xfrm>
          <a:prstGeom prst="rect">
            <a:avLst/>
          </a:prstGeom>
          <a:noFill/>
          <a:ln/>
        </p:spPr>
        <p:txBody>
          <a:bodyPr wrap="square" lIns="0" tIns="0" rIns="0" bIns="0" rtlCol="0" anchor="t"/>
          <a:lstStyle/>
          <a:p>
            <a:pPr indent="0" marL="0">
              <a:buNone/>
            </a:pPr>
            <a:r>
              <a:rPr lang="en-US" sz="1500" dirty="0">
                <a:solidFill>
                  <a:schemeClr val="accent5"/>
                </a:solidFill>
              </a:rPr>
              <a:t>plateformes</a:t>
            </a:r>
            <a:endParaRPr lang="en-US" sz="1500" dirty="0"/>
          </a:p>
        </p:txBody>
      </p:sp>
      <p:sp>
        <p:nvSpPr>
          <p:cNvPr id="34" name="Carte"/>
          <p:cNvSpPr/>
          <p:nvPr/>
        </p:nvSpPr>
        <p:spPr>
          <a:xfrm>
            <a:off x="8970264" y="3520440"/>
            <a:ext cx="2606040" cy="1508760"/>
          </a:xfrm>
          <a:prstGeom prst="roundRect">
            <a:avLst>
              <a:gd name="adj" fmla="val 7273"/>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35" name="Text 33"/>
          <p:cNvSpPr txBox="1"/>
          <p:nvPr/>
        </p:nvSpPr>
        <p:spPr>
          <a:xfrm>
            <a:off x="9244584" y="3657600"/>
            <a:ext cx="2103120" cy="77724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2</a:t>
            </a:r>
            <a:endParaRPr lang="en-US" sz="4400" dirty="0"/>
          </a:p>
        </p:txBody>
      </p:sp>
      <p:sp>
        <p:nvSpPr>
          <p:cNvPr id="36" name="Text 34"/>
          <p:cNvSpPr txBox="1"/>
          <p:nvPr/>
        </p:nvSpPr>
        <p:spPr>
          <a:xfrm>
            <a:off x="9244584" y="4480560"/>
            <a:ext cx="2194560" cy="411480"/>
          </a:xfrm>
          <a:prstGeom prst="rect">
            <a:avLst/>
          </a:prstGeom>
          <a:noFill/>
          <a:ln/>
        </p:spPr>
        <p:txBody>
          <a:bodyPr wrap="square" lIns="0" tIns="0" rIns="0" bIns="0" rtlCol="0" anchor="t"/>
          <a:lstStyle/>
          <a:p>
            <a:pPr indent="0" marL="0">
              <a:buNone/>
            </a:pPr>
            <a:r>
              <a:rPr lang="en-US" sz="1500" dirty="0">
                <a:solidFill>
                  <a:schemeClr val="accent5"/>
                </a:solidFill>
              </a:rPr>
              <a:t>cahiers rédigés</a:t>
            </a:r>
            <a:endParaRPr lang="en-US" sz="1500" dirty="0"/>
          </a:p>
        </p:txBody>
      </p:sp>
      <p:sp>
        <p:nvSpPr>
          <p:cNvPr id="37" name="Pastille"/>
          <p:cNvSpPr/>
          <p:nvPr/>
        </p:nvSpPr>
        <p:spPr>
          <a:xfrm>
            <a:off x="548640" y="5486400"/>
            <a:ext cx="1671523"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38" name="Pastille texte"/>
          <p:cNvSpPr txBox="1"/>
          <p:nvPr/>
        </p:nvSpPr>
        <p:spPr>
          <a:xfrm>
            <a:off x="548640" y="5486400"/>
            <a:ext cx="1671523" cy="347472"/>
          </a:xfrm>
          <a:prstGeom prst="rect">
            <a:avLst/>
          </a:prstGeom>
          <a:noFill/>
          <a:ln/>
        </p:spPr>
        <p:txBody>
          <a:bodyPr wrap="square" lIns="0" tIns="0" rIns="0" bIns="0" rtlCol="0" anchor="ctr"/>
          <a:lstStyle/>
          <a:p>
            <a:pPr algn="ctr" indent="0" marL="0">
              <a:buNone/>
            </a:pPr>
            <a:r>
              <a:rPr lang="en-US" sz="1250" b="1" dirty="0">
                <a:solidFill>
                  <a:schemeClr val="accent2"/>
                </a:solidFill>
              </a:rPr>
              <a:t>Les tests prévus</a:t>
            </a:r>
            <a:endParaRPr lang="en-US" sz="1250" dirty="0"/>
          </a:p>
        </p:txBody>
      </p:sp>
      <p:sp>
        <p:nvSpPr>
          <p:cNvPr id="39" name="Pastille"/>
          <p:cNvSpPr/>
          <p:nvPr/>
        </p:nvSpPr>
        <p:spPr>
          <a:xfrm>
            <a:off x="2357323" y="5486400"/>
            <a:ext cx="1832458"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40" name="Pastille texte"/>
          <p:cNvSpPr txBox="1"/>
          <p:nvPr/>
        </p:nvSpPr>
        <p:spPr>
          <a:xfrm>
            <a:off x="2357323" y="5486400"/>
            <a:ext cx="1832458" cy="347472"/>
          </a:xfrm>
          <a:prstGeom prst="rect">
            <a:avLst/>
          </a:prstGeom>
          <a:noFill/>
          <a:ln/>
        </p:spPr>
        <p:txBody>
          <a:bodyPr wrap="square" lIns="0" tIns="0" rIns="0" bIns="0" rtlCol="0" anchor="ctr"/>
          <a:lstStyle/>
          <a:p>
            <a:pPr algn="ctr" indent="0" marL="0">
              <a:buNone/>
            </a:pPr>
            <a:r>
              <a:rPr lang="en-US" sz="1250" b="1" dirty="0">
                <a:solidFill>
                  <a:schemeClr val="accent2"/>
                </a:solidFill>
              </a:rPr>
              <a:t>iOS demande un Mac</a:t>
            </a:r>
            <a:endParaRPr lang="en-US" sz="1250" dirty="0"/>
          </a:p>
        </p:txBody>
      </p:sp>
      <p:sp>
        <p:nvSpPr>
          <p:cNvPr id="41" name="Pastille"/>
          <p:cNvSpPr/>
          <p:nvPr/>
        </p:nvSpPr>
        <p:spPr>
          <a:xfrm>
            <a:off x="4326941" y="5486400"/>
            <a:ext cx="2395728" cy="347472"/>
          </a:xfrm>
          <a:prstGeom prst="roundRect">
            <a:avLst>
              <a:gd name="adj" fmla="val 50000"/>
            </a:avLst>
          </a:prstGeom>
          <a:solidFill>
            <a:schemeClr val="accent2">
              <a:alpha val="12000"/>
            </a:schemeClr>
          </a:solidFill>
          <a:ln w="9525">
            <a:solidFill>
              <a:schemeClr val="accent2">
                <a:alpha val="60000"/>
              </a:schemeClr>
            </a:solidFill>
            <a:prstDash val="solid"/>
          </a:ln>
        </p:spPr>
      </p:sp>
      <p:sp>
        <p:nvSpPr>
          <p:cNvPr id="42" name="Pastille texte"/>
          <p:cNvSpPr txBox="1"/>
          <p:nvPr/>
        </p:nvSpPr>
        <p:spPr>
          <a:xfrm>
            <a:off x="4326941" y="5486400"/>
            <a:ext cx="2395728" cy="347472"/>
          </a:xfrm>
          <a:prstGeom prst="rect">
            <a:avLst/>
          </a:prstGeom>
          <a:noFill/>
          <a:ln/>
        </p:spPr>
        <p:txBody>
          <a:bodyPr wrap="square" lIns="0" tIns="0" rIns="0" bIns="0" rtlCol="0" anchor="ctr"/>
          <a:lstStyle/>
          <a:p>
            <a:pPr algn="ctr" indent="0" marL="0">
              <a:buNone/>
            </a:pPr>
            <a:r>
              <a:rPr lang="en-US" sz="1250" b="1" dirty="0">
                <a:solidFill>
                  <a:schemeClr val="accent2"/>
                </a:solidFill>
              </a:rPr>
              <a:t>Démo : Android et Windows</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EN MILIEU PROFESSIONNEL · STAGE CHEZ SUITIME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SYNCRO, de la maquette aux deux stores</a:t>
            </a:r>
            <a:endParaRPr lang="en-US" sz="3400" dirty="0"/>
          </a:p>
        </p:txBody>
      </p:sp>
      <p:sp>
        <p:nvSpPr>
          <p:cNvPr id="4" name="Text 2"/>
          <p:cNvSpPr txBox="1"/>
          <p:nvPr/>
        </p:nvSpPr>
        <p:spPr>
          <a:xfrm>
            <a:off x="548640" y="1645920"/>
            <a:ext cx="6309360" cy="1371600"/>
          </a:xfrm>
          <a:prstGeom prst="rect">
            <a:avLst/>
          </a:prstGeom>
          <a:noFill/>
          <a:ln/>
        </p:spPr>
        <p:txBody>
          <a:bodyPr wrap="square" lIns="0" tIns="0" rIns="0" bIns="0" rtlCol="0" anchor="t"/>
          <a:lstStyle/>
          <a:p>
            <a:pPr indent="0" marL="0">
              <a:buNone/>
            </a:pPr>
            <a:r>
              <a:rPr lang="en-US" sz="1600" dirty="0">
                <a:solidFill>
                  <a:schemeClr val="tx1"/>
                </a:solidFill>
              </a:rPr>
              <a:t>Application mobile de planning d'équipe : chaque membre saisit ses disponibilités, le responsable valide puis verrouille la semaine. J'ai fait tout le projet : l'application Flutter, l'API Next.js en TypeScript, la base MySQL, le serveur et la publication.</a:t>
            </a:r>
            <a:endParaRPr lang="en-US" sz="1600" dirty="0"/>
          </a:p>
        </p:txBody>
      </p:sp>
      <p:sp>
        <p:nvSpPr>
          <p:cNvPr id="5" name="Carte"/>
          <p:cNvSpPr/>
          <p:nvPr/>
        </p:nvSpPr>
        <p:spPr>
          <a:xfrm>
            <a:off x="548640" y="3200400"/>
            <a:ext cx="1938528" cy="1325880"/>
          </a:xfrm>
          <a:prstGeom prst="roundRect">
            <a:avLst>
              <a:gd name="adj" fmla="val 827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6" name="Text 4"/>
          <p:cNvSpPr txBox="1"/>
          <p:nvPr/>
        </p:nvSpPr>
        <p:spPr>
          <a:xfrm>
            <a:off x="777240" y="3310128"/>
            <a:ext cx="1554480" cy="68580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5</a:t>
            </a:r>
            <a:endParaRPr lang="en-US" sz="4000" dirty="0"/>
          </a:p>
        </p:txBody>
      </p:sp>
      <p:sp>
        <p:nvSpPr>
          <p:cNvPr id="7" name="Text 5"/>
          <p:cNvSpPr txBox="1"/>
          <p:nvPr/>
        </p:nvSpPr>
        <p:spPr>
          <a:xfrm>
            <a:off x="777240" y="4023360"/>
            <a:ext cx="1645920" cy="365760"/>
          </a:xfrm>
          <a:prstGeom prst="rect">
            <a:avLst/>
          </a:prstGeom>
          <a:noFill/>
          <a:ln/>
        </p:spPr>
        <p:txBody>
          <a:bodyPr wrap="square" lIns="0" tIns="0" rIns="0" bIns="0" rtlCol="0" anchor="t"/>
          <a:lstStyle/>
          <a:p>
            <a:pPr indent="0" marL="0">
              <a:buNone/>
            </a:pPr>
            <a:r>
              <a:rPr lang="en-US" sz="1400" dirty="0">
                <a:solidFill>
                  <a:schemeClr val="accent5"/>
                </a:solidFill>
              </a:rPr>
              <a:t>mois de projet</a:t>
            </a:r>
            <a:endParaRPr lang="en-US" sz="1400" dirty="0"/>
          </a:p>
        </p:txBody>
      </p:sp>
      <p:sp>
        <p:nvSpPr>
          <p:cNvPr id="8" name="Carte"/>
          <p:cNvSpPr/>
          <p:nvPr/>
        </p:nvSpPr>
        <p:spPr>
          <a:xfrm>
            <a:off x="2670048" y="3200400"/>
            <a:ext cx="1938528" cy="1325880"/>
          </a:xfrm>
          <a:prstGeom prst="roundRect">
            <a:avLst>
              <a:gd name="adj" fmla="val 827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9" name="Text 7"/>
          <p:cNvSpPr txBox="1"/>
          <p:nvPr/>
        </p:nvSpPr>
        <p:spPr>
          <a:xfrm>
            <a:off x="2898648" y="3310128"/>
            <a:ext cx="1554480" cy="68580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53</a:t>
            </a:r>
            <a:endParaRPr lang="en-US" sz="4000" dirty="0"/>
          </a:p>
        </p:txBody>
      </p:sp>
      <p:sp>
        <p:nvSpPr>
          <p:cNvPr id="10" name="Text 8"/>
          <p:cNvSpPr txBox="1"/>
          <p:nvPr/>
        </p:nvSpPr>
        <p:spPr>
          <a:xfrm>
            <a:off x="2898648" y="4023360"/>
            <a:ext cx="1645920" cy="365760"/>
          </a:xfrm>
          <a:prstGeom prst="rect">
            <a:avLst/>
          </a:prstGeom>
          <a:noFill/>
          <a:ln/>
        </p:spPr>
        <p:txBody>
          <a:bodyPr wrap="square" lIns="0" tIns="0" rIns="0" bIns="0" rtlCol="0" anchor="t"/>
          <a:lstStyle/>
          <a:p>
            <a:pPr indent="0" marL="0">
              <a:buNone/>
            </a:pPr>
            <a:r>
              <a:rPr lang="en-US" sz="1400" dirty="0">
                <a:solidFill>
                  <a:schemeClr val="accent5"/>
                </a:solidFill>
              </a:rPr>
              <a:t>routes en TypeScript</a:t>
            </a:r>
            <a:endParaRPr lang="en-US" sz="1400" dirty="0"/>
          </a:p>
        </p:txBody>
      </p:sp>
      <p:sp>
        <p:nvSpPr>
          <p:cNvPr id="11" name="Carte"/>
          <p:cNvSpPr/>
          <p:nvPr/>
        </p:nvSpPr>
        <p:spPr>
          <a:xfrm>
            <a:off x="4791456" y="3200400"/>
            <a:ext cx="1938528" cy="1325880"/>
          </a:xfrm>
          <a:prstGeom prst="roundRect">
            <a:avLst>
              <a:gd name="adj" fmla="val 827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12" name="Text 10"/>
          <p:cNvSpPr txBox="1"/>
          <p:nvPr/>
        </p:nvSpPr>
        <p:spPr>
          <a:xfrm>
            <a:off x="5020056" y="3310128"/>
            <a:ext cx="1554480" cy="68580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2</a:t>
            </a:r>
            <a:endParaRPr lang="en-US" sz="4000" dirty="0"/>
          </a:p>
        </p:txBody>
      </p:sp>
      <p:sp>
        <p:nvSpPr>
          <p:cNvPr id="13" name="Text 11"/>
          <p:cNvSpPr txBox="1"/>
          <p:nvPr/>
        </p:nvSpPr>
        <p:spPr>
          <a:xfrm>
            <a:off x="5020056" y="4023360"/>
            <a:ext cx="1645920" cy="365760"/>
          </a:xfrm>
          <a:prstGeom prst="rect">
            <a:avLst/>
          </a:prstGeom>
          <a:noFill/>
          <a:ln/>
        </p:spPr>
        <p:txBody>
          <a:bodyPr wrap="square" lIns="0" tIns="0" rIns="0" bIns="0" rtlCol="0" anchor="t"/>
          <a:lstStyle/>
          <a:p>
            <a:pPr indent="0" marL="0">
              <a:buNone/>
            </a:pPr>
            <a:r>
              <a:rPr lang="en-US" sz="1400" dirty="0">
                <a:solidFill>
                  <a:schemeClr val="accent5"/>
                </a:solidFill>
              </a:rPr>
              <a:t>stores</a:t>
            </a:r>
            <a:endParaRPr lang="en-US" sz="1400" dirty="0"/>
          </a:p>
        </p:txBody>
      </p:sp>
      <p:sp>
        <p:nvSpPr>
          <p:cNvPr id="14" name="Pastille"/>
          <p:cNvSpPr/>
          <p:nvPr/>
        </p:nvSpPr>
        <p:spPr>
          <a:xfrm>
            <a:off x="548640" y="4892040"/>
            <a:ext cx="1993392"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15" name="Pastille texte"/>
          <p:cNvSpPr txBox="1"/>
          <p:nvPr/>
        </p:nvSpPr>
        <p:spPr>
          <a:xfrm>
            <a:off x="548640" y="4892040"/>
            <a:ext cx="1993392" cy="347472"/>
          </a:xfrm>
          <a:prstGeom prst="rect">
            <a:avLst/>
          </a:prstGeom>
          <a:noFill/>
          <a:ln/>
        </p:spPr>
        <p:txBody>
          <a:bodyPr wrap="square" lIns="0" tIns="0" rIns="0" bIns="0" rtlCol="0" anchor="ctr"/>
          <a:lstStyle/>
          <a:p>
            <a:pPr algn="ctr" indent="0" marL="0">
              <a:buNone/>
            </a:pPr>
            <a:r>
              <a:rPr lang="en-US" sz="1250" b="1" dirty="0">
                <a:solidFill>
                  <a:schemeClr val="accent1"/>
                </a:solidFill>
              </a:rPr>
              <a:t>Refus de l'App Store</a:t>
            </a:r>
            <a:endParaRPr lang="en-US" sz="1250" dirty="0"/>
          </a:p>
        </p:txBody>
      </p:sp>
      <p:sp>
        <p:nvSpPr>
          <p:cNvPr id="16" name="Pastille"/>
          <p:cNvSpPr/>
          <p:nvPr/>
        </p:nvSpPr>
        <p:spPr>
          <a:xfrm>
            <a:off x="2679192" y="4892040"/>
            <a:ext cx="2073859"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17" name="Pastille texte"/>
          <p:cNvSpPr txBox="1"/>
          <p:nvPr/>
        </p:nvSpPr>
        <p:spPr>
          <a:xfrm>
            <a:off x="2679192" y="4892040"/>
            <a:ext cx="2073859" cy="347472"/>
          </a:xfrm>
          <a:prstGeom prst="rect">
            <a:avLst/>
          </a:prstGeom>
          <a:noFill/>
          <a:ln/>
        </p:spPr>
        <p:txBody>
          <a:bodyPr wrap="square" lIns="0" tIns="0" rIns="0" bIns="0" rtlCol="0" anchor="ctr"/>
          <a:lstStyle/>
          <a:p>
            <a:pPr algn="ctr" indent="0" marL="0">
              <a:buNone/>
            </a:pPr>
            <a:r>
              <a:rPr lang="en-US" sz="1250" b="1" dirty="0">
                <a:solidFill>
                  <a:schemeClr val="accent1"/>
                </a:solidFill>
              </a:rPr>
              <a:t>Créneaux après minuit</a:t>
            </a:r>
            <a:endParaRPr lang="en-US" sz="1250" dirty="0"/>
          </a:p>
        </p:txBody>
      </p:sp>
      <p:sp>
        <p:nvSpPr>
          <p:cNvPr id="18" name="Pastille"/>
          <p:cNvSpPr/>
          <p:nvPr/>
        </p:nvSpPr>
        <p:spPr>
          <a:xfrm>
            <a:off x="548640" y="5394960"/>
            <a:ext cx="1993392"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19" name="Pastille texte"/>
          <p:cNvSpPr txBox="1"/>
          <p:nvPr/>
        </p:nvSpPr>
        <p:spPr>
          <a:xfrm>
            <a:off x="548640" y="5394960"/>
            <a:ext cx="1993392" cy="347472"/>
          </a:xfrm>
          <a:prstGeom prst="rect">
            <a:avLst/>
          </a:prstGeom>
          <a:noFill/>
          <a:ln/>
        </p:spPr>
        <p:txBody>
          <a:bodyPr wrap="square" lIns="0" tIns="0" rIns="0" bIns="0" rtlCol="0" anchor="ctr"/>
          <a:lstStyle/>
          <a:p>
            <a:pPr algn="ctr" indent="0" marL="0">
              <a:buNone/>
            </a:pPr>
            <a:r>
              <a:rPr lang="en-US" sz="1250" b="1" dirty="0">
                <a:solidFill>
                  <a:schemeClr val="accent1"/>
                </a:solidFill>
              </a:rPr>
              <a:t>Notifications iPhone</a:t>
            </a:r>
            <a:endParaRPr lang="en-US" sz="1250" dirty="0"/>
          </a:p>
        </p:txBody>
      </p:sp>
      <p:sp>
        <p:nvSpPr>
          <p:cNvPr id="20" name="Pastille"/>
          <p:cNvSpPr/>
          <p:nvPr/>
        </p:nvSpPr>
        <p:spPr>
          <a:xfrm>
            <a:off x="2679192" y="5394960"/>
            <a:ext cx="2395728"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21" name="Pastille texte"/>
          <p:cNvSpPr txBox="1"/>
          <p:nvPr/>
        </p:nvSpPr>
        <p:spPr>
          <a:xfrm>
            <a:off x="2679192" y="5394960"/>
            <a:ext cx="2395728" cy="347472"/>
          </a:xfrm>
          <a:prstGeom prst="rect">
            <a:avLst/>
          </a:prstGeom>
          <a:noFill/>
          <a:ln/>
        </p:spPr>
        <p:txBody>
          <a:bodyPr wrap="square" lIns="0" tIns="0" rIns="0" bIns="0" rtlCol="0" anchor="ctr"/>
          <a:lstStyle/>
          <a:p>
            <a:pPr algn="ctr" indent="0" marL="0">
              <a:buNone/>
            </a:pPr>
            <a:r>
              <a:rPr lang="en-US" sz="1250" b="1" dirty="0">
                <a:solidFill>
                  <a:schemeClr val="accent1"/>
                </a:solidFill>
              </a:rPr>
              <a:t>Cloisonnement des groupes</a:t>
            </a:r>
            <a:endParaRPr lang="en-US" sz="1250" dirty="0"/>
          </a:p>
        </p:txBody>
      </p:sp>
      <p:pic>
        <p:nvPicPr>
          <p:cNvPr id="22" name="Capture SYNCRO" descr="Capture de SYNCRO">    </p:cNvPr>
          <p:cNvPicPr>
            <a:picLocks noChangeAspect="1"/>
          </p:cNvPicPr>
          <p:nvPr/>
        </p:nvPicPr>
        <p:blipFill>
          <a:blip r:embed="rId1"/>
          <a:stretch>
            <a:fillRect/>
          </a:stretch>
        </p:blipFill>
        <p:spPr>
          <a:xfrm>
            <a:off x="7269480" y="1874520"/>
            <a:ext cx="1371600" cy="2438400"/>
          </a:xfrm>
          <a:prstGeom prst="rect">
            <a:avLst/>
          </a:prstGeom>
        </p:spPr>
      </p:pic>
      <p:pic>
        <p:nvPicPr>
          <p:cNvPr id="23" name="Capture SYNCRO" descr="Capture de SYNCRO">    </p:cNvPr>
          <p:cNvPicPr>
            <a:picLocks noChangeAspect="1"/>
          </p:cNvPicPr>
          <p:nvPr/>
        </p:nvPicPr>
        <p:blipFill>
          <a:blip r:embed="rId2"/>
          <a:stretch>
            <a:fillRect/>
          </a:stretch>
        </p:blipFill>
        <p:spPr>
          <a:xfrm>
            <a:off x="8750808" y="1600200"/>
            <a:ext cx="1371600" cy="2438400"/>
          </a:xfrm>
          <a:prstGeom prst="rect">
            <a:avLst/>
          </a:prstGeom>
        </p:spPr>
      </p:pic>
      <p:pic>
        <p:nvPicPr>
          <p:cNvPr id="24" name="Capture SYNCRO" descr="Capture de SYNCRO">    </p:cNvPr>
          <p:cNvPicPr>
            <a:picLocks noChangeAspect="1"/>
          </p:cNvPicPr>
          <p:nvPr/>
        </p:nvPicPr>
        <p:blipFill>
          <a:blip r:embed="rId3"/>
          <a:stretch>
            <a:fillRect/>
          </a:stretch>
        </p:blipFill>
        <p:spPr>
          <a:xfrm>
            <a:off x="10232136" y="1874520"/>
            <a:ext cx="1371600" cy="2438400"/>
          </a:xfrm>
          <a:prstGeom prst="rect">
            <a:avLst/>
          </a:prstGeom>
        </p:spPr>
      </p:pic>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PLA'NET · PROJET À CINQ EN QUATRE JOURS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La base d'abord, le code ensuite</a:t>
            </a:r>
            <a:endParaRPr lang="en-US" sz="3400" dirty="0"/>
          </a:p>
        </p:txBody>
      </p:sp>
      <p:pic>
        <p:nvPicPr>
          <p:cNvPr id="4" name="Schéma de la base Pla'Net" descr="Modèle logique de la base de Pla'Net : 12 tables">    </p:cNvPr>
          <p:cNvPicPr>
            <a:picLocks noChangeAspect="1"/>
          </p:cNvPicPr>
          <p:nvPr/>
        </p:nvPicPr>
        <p:blipFill>
          <a:blip r:embed="rId1"/>
          <a:stretch>
            <a:fillRect/>
          </a:stretch>
        </p:blipFill>
        <p:spPr>
          <a:xfrm>
            <a:off x="548640" y="1600200"/>
            <a:ext cx="7498080" cy="3686556"/>
          </a:xfrm>
          <a:prstGeom prst="rect">
            <a:avLst/>
          </a:prstGeom>
        </p:spPr>
      </p:pic>
      <p:sp>
        <p:nvSpPr>
          <p:cNvPr id="5" name="Carte"/>
          <p:cNvSpPr/>
          <p:nvPr/>
        </p:nvSpPr>
        <p:spPr>
          <a:xfrm>
            <a:off x="8321040" y="1600200"/>
            <a:ext cx="3319272" cy="1463040"/>
          </a:xfrm>
          <a:prstGeom prst="roundRect">
            <a:avLst>
              <a:gd name="adj" fmla="val 7500"/>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6" name="Text 3"/>
          <p:cNvSpPr txBox="1"/>
          <p:nvPr/>
        </p:nvSpPr>
        <p:spPr>
          <a:xfrm>
            <a:off x="8595360" y="1691640"/>
            <a:ext cx="1371600" cy="777240"/>
          </a:xfrm>
          <a:prstGeom prst="rect">
            <a:avLst/>
          </a:prstGeom>
          <a:noFill/>
          <a:ln/>
        </p:spPr>
        <p:txBody>
          <a:bodyPr wrap="square" lIns="0" tIns="0" rIns="0" bIns="0" rtlCol="0" anchor="t"/>
          <a:lstStyle/>
          <a:p>
            <a:pPr indent="0" marL="0">
              <a:buNone/>
            </a:pPr>
            <a:r>
              <a:rPr lang="en-US" sz="4400" b="1" dirty="0">
                <a:solidFill>
                  <a:schemeClr val="accent3"/>
                </a:solidFill>
                <a:latin typeface="Arial" pitchFamily="34" charset="0"/>
                <a:ea typeface="Arial" pitchFamily="34" charset="-122"/>
                <a:cs typeface="Arial" pitchFamily="34" charset="-120"/>
              </a:rPr>
              <a:t>12</a:t>
            </a:r>
            <a:endParaRPr lang="en-US" sz="4400" dirty="0"/>
          </a:p>
        </p:txBody>
      </p:sp>
      <p:sp>
        <p:nvSpPr>
          <p:cNvPr id="7" name="Text 4"/>
          <p:cNvSpPr txBox="1"/>
          <p:nvPr/>
        </p:nvSpPr>
        <p:spPr>
          <a:xfrm>
            <a:off x="8595360" y="2514600"/>
            <a:ext cx="2743200" cy="365760"/>
          </a:xfrm>
          <a:prstGeom prst="rect">
            <a:avLst/>
          </a:prstGeom>
          <a:noFill/>
          <a:ln/>
        </p:spPr>
        <p:txBody>
          <a:bodyPr wrap="square" lIns="0" tIns="0" rIns="0" bIns="0" rtlCol="0" anchor="t"/>
          <a:lstStyle/>
          <a:p>
            <a:pPr indent="0" marL="0">
              <a:buNone/>
            </a:pPr>
            <a:r>
              <a:rPr lang="en-US" sz="1500" dirty="0">
                <a:solidFill>
                  <a:schemeClr val="accent5"/>
                </a:solidFill>
              </a:rPr>
              <a:t>tables</a:t>
            </a:r>
            <a:endParaRPr lang="en-US" sz="1500" dirty="0"/>
          </a:p>
        </p:txBody>
      </p:sp>
      <p:sp>
        <p:nvSpPr>
          <p:cNvPr id="8" name="Carte"/>
          <p:cNvSpPr/>
          <p:nvPr/>
        </p:nvSpPr>
        <p:spPr>
          <a:xfrm>
            <a:off x="8321040" y="3246120"/>
            <a:ext cx="3319272" cy="1463040"/>
          </a:xfrm>
          <a:prstGeom prst="roundRect">
            <a:avLst>
              <a:gd name="adj" fmla="val 7500"/>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9" name="Text 6"/>
          <p:cNvSpPr txBox="1"/>
          <p:nvPr/>
        </p:nvSpPr>
        <p:spPr>
          <a:xfrm>
            <a:off x="8595360" y="3337560"/>
            <a:ext cx="2834640" cy="77724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34 / 45</a:t>
            </a:r>
            <a:endParaRPr lang="en-US" sz="4000" dirty="0"/>
          </a:p>
        </p:txBody>
      </p:sp>
      <p:sp>
        <p:nvSpPr>
          <p:cNvPr id="10" name="Text 7"/>
          <p:cNvSpPr txBox="1"/>
          <p:nvPr/>
        </p:nvSpPr>
        <p:spPr>
          <a:xfrm>
            <a:off x="8595360" y="4160520"/>
            <a:ext cx="2926080" cy="365760"/>
          </a:xfrm>
          <a:prstGeom prst="rect">
            <a:avLst/>
          </a:prstGeom>
          <a:noFill/>
          <a:ln/>
        </p:spPr>
        <p:txBody>
          <a:bodyPr wrap="square" lIns="0" tIns="0" rIns="0" bIns="0" rtlCol="0" anchor="t"/>
          <a:lstStyle/>
          <a:p>
            <a:pPr indent="0" marL="0">
              <a:buNone/>
            </a:pPr>
            <a:r>
              <a:rPr lang="en-US" sz="1500" dirty="0">
                <a:solidFill>
                  <a:schemeClr val="accent5"/>
                </a:solidFill>
              </a:rPr>
              <a:t>cartes Trello réalisées</a:t>
            </a:r>
            <a:endParaRPr lang="en-US" sz="1500" dirty="0"/>
          </a:p>
        </p:txBody>
      </p:sp>
      <p:sp>
        <p:nvSpPr>
          <p:cNvPr id="11" name="Pastille"/>
          <p:cNvSpPr/>
          <p:nvPr/>
        </p:nvSpPr>
        <p:spPr>
          <a:xfrm>
            <a:off x="548640" y="5532120"/>
            <a:ext cx="1671523" cy="347472"/>
          </a:xfrm>
          <a:prstGeom prst="roundRect">
            <a:avLst>
              <a:gd name="adj" fmla="val 50000"/>
            </a:avLst>
          </a:prstGeom>
          <a:solidFill>
            <a:schemeClr val="accent3">
              <a:alpha val="12000"/>
            </a:schemeClr>
          </a:solidFill>
          <a:ln w="9525">
            <a:solidFill>
              <a:schemeClr val="accent3">
                <a:alpha val="60000"/>
              </a:schemeClr>
            </a:solidFill>
            <a:prstDash val="solid"/>
          </a:ln>
        </p:spPr>
      </p:sp>
      <p:sp>
        <p:nvSpPr>
          <p:cNvPr id="12" name="Pastille texte"/>
          <p:cNvSpPr txBox="1"/>
          <p:nvPr/>
        </p:nvSpPr>
        <p:spPr>
          <a:xfrm>
            <a:off x="548640" y="5532120"/>
            <a:ext cx="1671523" cy="347472"/>
          </a:xfrm>
          <a:prstGeom prst="rect">
            <a:avLst/>
          </a:prstGeom>
          <a:noFill/>
          <a:ln/>
        </p:spPr>
        <p:txBody>
          <a:bodyPr wrap="square" lIns="0" tIns="0" rIns="0" bIns="0" rtlCol="0" anchor="ctr"/>
          <a:lstStyle/>
          <a:p>
            <a:pPr algn="ctr" indent="0" marL="0">
              <a:buNone/>
            </a:pPr>
            <a:r>
              <a:rPr lang="en-US" sz="1250" b="1" dirty="0">
                <a:solidFill>
                  <a:schemeClr val="accent3"/>
                </a:solidFill>
              </a:rPr>
              <a:t>Colonne obsolete</a:t>
            </a:r>
            <a:endParaRPr lang="en-US" sz="1250" dirty="0"/>
          </a:p>
        </p:txBody>
      </p:sp>
      <p:sp>
        <p:nvSpPr>
          <p:cNvPr id="13" name="Pastille"/>
          <p:cNvSpPr/>
          <p:nvPr/>
        </p:nvSpPr>
        <p:spPr>
          <a:xfrm>
            <a:off x="2357323" y="5532120"/>
            <a:ext cx="1671523" cy="347472"/>
          </a:xfrm>
          <a:prstGeom prst="roundRect">
            <a:avLst>
              <a:gd name="adj" fmla="val 50000"/>
            </a:avLst>
          </a:prstGeom>
          <a:solidFill>
            <a:schemeClr val="accent3">
              <a:alpha val="12000"/>
            </a:schemeClr>
          </a:solidFill>
          <a:ln w="9525">
            <a:solidFill>
              <a:schemeClr val="accent3">
                <a:alpha val="60000"/>
              </a:schemeClr>
            </a:solidFill>
            <a:prstDash val="solid"/>
          </a:ln>
        </p:spPr>
      </p:sp>
      <p:sp>
        <p:nvSpPr>
          <p:cNvPr id="14" name="Pastille texte"/>
          <p:cNvSpPr txBox="1"/>
          <p:nvPr/>
        </p:nvSpPr>
        <p:spPr>
          <a:xfrm>
            <a:off x="2357323" y="5532120"/>
            <a:ext cx="1671523" cy="347472"/>
          </a:xfrm>
          <a:prstGeom prst="rect">
            <a:avLst/>
          </a:prstGeom>
          <a:noFill/>
          <a:ln/>
        </p:spPr>
        <p:txBody>
          <a:bodyPr wrap="square" lIns="0" tIns="0" rIns="0" bIns="0" rtlCol="0" anchor="ctr"/>
          <a:lstStyle/>
          <a:p>
            <a:pPr algn="ctr" indent="0" marL="0">
              <a:buNone/>
            </a:pPr>
            <a:r>
              <a:rPr lang="en-US" sz="1250" b="1" dirty="0">
                <a:solidFill>
                  <a:schemeClr val="accent3"/>
                </a:solidFill>
              </a:rPr>
              <a:t>Table de liaison</a:t>
            </a:r>
            <a:endParaRPr lang="en-US" sz="1250" dirty="0"/>
          </a:p>
        </p:txBody>
      </p:sp>
      <p:sp>
        <p:nvSpPr>
          <p:cNvPr id="15" name="Pastille"/>
          <p:cNvSpPr/>
          <p:nvPr/>
        </p:nvSpPr>
        <p:spPr>
          <a:xfrm>
            <a:off x="4166006" y="5532120"/>
            <a:ext cx="1510589" cy="347472"/>
          </a:xfrm>
          <a:prstGeom prst="roundRect">
            <a:avLst>
              <a:gd name="adj" fmla="val 50000"/>
            </a:avLst>
          </a:prstGeom>
          <a:solidFill>
            <a:schemeClr val="accent3">
              <a:alpha val="12000"/>
            </a:schemeClr>
          </a:solidFill>
          <a:ln w="9525">
            <a:solidFill>
              <a:schemeClr val="accent3">
                <a:alpha val="60000"/>
              </a:schemeClr>
            </a:solidFill>
            <a:prstDash val="solid"/>
          </a:ln>
        </p:spPr>
      </p:sp>
      <p:sp>
        <p:nvSpPr>
          <p:cNvPr id="16" name="Pastille texte"/>
          <p:cNvSpPr txBox="1"/>
          <p:nvPr/>
        </p:nvSpPr>
        <p:spPr>
          <a:xfrm>
            <a:off x="4166006" y="5532120"/>
            <a:ext cx="1510589" cy="347472"/>
          </a:xfrm>
          <a:prstGeom prst="rect">
            <a:avLst/>
          </a:prstGeom>
          <a:noFill/>
          <a:ln/>
        </p:spPr>
        <p:txBody>
          <a:bodyPr wrap="square" lIns="0" tIns="0" rIns="0" bIns="0" rtlCol="0" anchor="ctr"/>
          <a:lstStyle/>
          <a:p>
            <a:pPr algn="ctr" indent="0" marL="0">
              <a:buNone/>
            </a:pPr>
            <a:r>
              <a:rPr lang="en-US" sz="1250" b="1" dirty="0">
                <a:solidFill>
                  <a:schemeClr val="accent3"/>
                </a:solidFill>
              </a:rPr>
              <a:t>Carte DÉCISION</a:t>
            </a:r>
            <a:endParaRPr lang="en-US" sz="1250" dirty="0"/>
          </a:p>
        </p:txBody>
      </p:sp>
      <p:sp>
        <p:nvSpPr>
          <p:cNvPr id="17" name="Pastille"/>
          <p:cNvSpPr/>
          <p:nvPr/>
        </p:nvSpPr>
        <p:spPr>
          <a:xfrm>
            <a:off x="5813755" y="5532120"/>
            <a:ext cx="2073859" cy="347472"/>
          </a:xfrm>
          <a:prstGeom prst="roundRect">
            <a:avLst>
              <a:gd name="adj" fmla="val 50000"/>
            </a:avLst>
          </a:prstGeom>
          <a:solidFill>
            <a:schemeClr val="accent3">
              <a:alpha val="12000"/>
            </a:schemeClr>
          </a:solidFill>
          <a:ln w="9525">
            <a:solidFill>
              <a:schemeClr val="accent3">
                <a:alpha val="60000"/>
              </a:schemeClr>
            </a:solidFill>
            <a:prstDash val="solid"/>
          </a:ln>
        </p:spPr>
      </p:sp>
      <p:sp>
        <p:nvSpPr>
          <p:cNvPr id="18" name="Pastille texte"/>
          <p:cNvSpPr txBox="1"/>
          <p:nvPr/>
        </p:nvSpPr>
        <p:spPr>
          <a:xfrm>
            <a:off x="5813755" y="5532120"/>
            <a:ext cx="2073859" cy="347472"/>
          </a:xfrm>
          <a:prstGeom prst="rect">
            <a:avLst/>
          </a:prstGeom>
          <a:noFill/>
          <a:ln/>
        </p:spPr>
        <p:txBody>
          <a:bodyPr wrap="square" lIns="0" tIns="0" rIns="0" bIns="0" rtlCol="0" anchor="ctr"/>
          <a:lstStyle/>
          <a:p>
            <a:pPr algn="ctr" indent="0" marL="0">
              <a:buNone/>
            </a:pPr>
            <a:r>
              <a:rPr lang="en-US" sz="1250" b="1" dirty="0">
                <a:solidFill>
                  <a:schemeClr val="accent3"/>
                </a:solidFill>
              </a:rPr>
              <a:t>Migrations rejouables</a:t>
            </a:r>
            <a:endParaRPr lang="en-US" sz="1250" dirty="0"/>
          </a:p>
        </p:txBody>
      </p:sp>
      <p:sp>
        <p:nvSpPr>
          <p:cNvPr id="19" name="Pastille"/>
          <p:cNvSpPr/>
          <p:nvPr/>
        </p:nvSpPr>
        <p:spPr>
          <a:xfrm>
            <a:off x="8024774" y="5532120"/>
            <a:ext cx="2234794" cy="347472"/>
          </a:xfrm>
          <a:prstGeom prst="roundRect">
            <a:avLst>
              <a:gd name="adj" fmla="val 50000"/>
            </a:avLst>
          </a:prstGeom>
          <a:solidFill>
            <a:schemeClr val="accent3">
              <a:alpha val="12000"/>
            </a:schemeClr>
          </a:solidFill>
          <a:ln w="9525">
            <a:solidFill>
              <a:schemeClr val="accent3">
                <a:alpha val="60000"/>
              </a:schemeClr>
            </a:solidFill>
            <a:prstDash val="solid"/>
          </a:ln>
        </p:spPr>
      </p:sp>
      <p:sp>
        <p:nvSpPr>
          <p:cNvPr id="20" name="Pastille texte"/>
          <p:cNvSpPr txBox="1"/>
          <p:nvPr/>
        </p:nvSpPr>
        <p:spPr>
          <a:xfrm>
            <a:off x="8024774" y="5532120"/>
            <a:ext cx="2234794" cy="347472"/>
          </a:xfrm>
          <a:prstGeom prst="rect">
            <a:avLst/>
          </a:prstGeom>
          <a:noFill/>
          <a:ln/>
        </p:spPr>
        <p:txBody>
          <a:bodyPr wrap="square" lIns="0" tIns="0" rIns="0" bIns="0" rtlCol="0" anchor="ctr"/>
          <a:lstStyle/>
          <a:p>
            <a:pPr algn="ctr" indent="0" marL="0">
              <a:buNone/>
            </a:pPr>
            <a:r>
              <a:rPr lang="en-US" sz="1250" b="1" dirty="0">
                <a:solidFill>
                  <a:schemeClr val="accent3"/>
                </a:solidFill>
              </a:rPr>
              <a:t>L'écart : la sauvegarde</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DÉVELOPPEMENT PROFESSIONNEL</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Ma veille a un cap : devenir DevOps</a:t>
            </a:r>
            <a:endParaRPr lang="en-US" sz="3400" dirty="0"/>
          </a:p>
        </p:txBody>
      </p:sp>
      <p:sp>
        <p:nvSpPr>
          <p:cNvPr id="4" name="Text 2"/>
          <p:cNvSpPr txBox="1"/>
          <p:nvPr/>
        </p:nvSpPr>
        <p:spPr>
          <a:xfrm>
            <a:off x="548640" y="1645920"/>
            <a:ext cx="548640" cy="36576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5" name="Text 3"/>
          <p:cNvSpPr txBox="1"/>
          <p:nvPr/>
        </p:nvSpPr>
        <p:spPr>
          <a:xfrm>
            <a:off x="1188720" y="1645920"/>
            <a:ext cx="5029200" cy="347472"/>
          </a:xfrm>
          <a:prstGeom prst="rect">
            <a:avLst/>
          </a:prstGeom>
          <a:noFill/>
          <a:ln/>
        </p:spPr>
        <p:txBody>
          <a:bodyPr wrap="square" lIns="0" tIns="0" rIns="0" bIns="0" rtlCol="0" anchor="t"/>
          <a:lstStyle/>
          <a:p>
            <a:pPr indent="0" marL="0">
              <a:buNone/>
            </a:pPr>
            <a:r>
              <a:rPr lang="en-US" sz="1700" b="1" dirty="0">
                <a:solidFill>
                  <a:schemeClr val="tx1"/>
                </a:solidFill>
              </a:rPr>
              <a:t>Des sources</a:t>
            </a:r>
            <a:endParaRPr lang="en-US" sz="1700" dirty="0"/>
          </a:p>
        </p:txBody>
      </p:sp>
      <p:sp>
        <p:nvSpPr>
          <p:cNvPr id="6" name="Text 4"/>
          <p:cNvSpPr txBox="1"/>
          <p:nvPr/>
        </p:nvSpPr>
        <p:spPr>
          <a:xfrm>
            <a:off x="1188720" y="2011680"/>
            <a:ext cx="5029200" cy="365760"/>
          </a:xfrm>
          <a:prstGeom prst="rect">
            <a:avLst/>
          </a:prstGeom>
          <a:noFill/>
          <a:ln/>
        </p:spPr>
        <p:txBody>
          <a:bodyPr wrap="square" lIns="0" tIns="0" rIns="0" bIns="0" rtlCol="0" anchor="t"/>
          <a:lstStyle/>
          <a:p>
            <a:pPr indent="0" marL="0">
              <a:buNone/>
            </a:pPr>
            <a:r>
              <a:rPr lang="en-US" sz="1400" dirty="0">
                <a:solidFill>
                  <a:schemeClr val="accent5"/>
                </a:solidFill>
              </a:rPr>
              <a:t>Alertes Google, notes de version, règles des stores</a:t>
            </a:r>
            <a:endParaRPr lang="en-US" sz="1400" dirty="0"/>
          </a:p>
        </p:txBody>
      </p:sp>
      <p:sp>
        <p:nvSpPr>
          <p:cNvPr id="7" name="Text 5"/>
          <p:cNvSpPr txBox="1"/>
          <p:nvPr/>
        </p:nvSpPr>
        <p:spPr>
          <a:xfrm>
            <a:off x="548640" y="2560320"/>
            <a:ext cx="548640" cy="36576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8" name="Text 6"/>
          <p:cNvSpPr txBox="1"/>
          <p:nvPr/>
        </p:nvSpPr>
        <p:spPr>
          <a:xfrm>
            <a:off x="1188720" y="2560320"/>
            <a:ext cx="5029200" cy="347472"/>
          </a:xfrm>
          <a:prstGeom prst="rect">
            <a:avLst/>
          </a:prstGeom>
          <a:noFill/>
          <a:ln/>
        </p:spPr>
        <p:txBody>
          <a:bodyPr wrap="square" lIns="0" tIns="0" rIns="0" bIns="0" rtlCol="0" anchor="t"/>
          <a:lstStyle/>
          <a:p>
            <a:pPr indent="0" marL="0">
              <a:buNone/>
            </a:pPr>
            <a:r>
              <a:rPr lang="en-US" sz="1700" b="1" dirty="0">
                <a:solidFill>
                  <a:schemeClr val="tx1"/>
                </a:solidFill>
              </a:rPr>
              <a:t>Un tri</a:t>
            </a:r>
            <a:endParaRPr lang="en-US" sz="1700" dirty="0"/>
          </a:p>
        </p:txBody>
      </p:sp>
      <p:sp>
        <p:nvSpPr>
          <p:cNvPr id="9" name="Text 7"/>
          <p:cNvSpPr txBox="1"/>
          <p:nvPr/>
        </p:nvSpPr>
        <p:spPr>
          <a:xfrm>
            <a:off x="1188720" y="2926080"/>
            <a:ext cx="5029200" cy="365760"/>
          </a:xfrm>
          <a:prstGeom prst="rect">
            <a:avLst/>
          </a:prstGeom>
          <a:noFill/>
          <a:ln/>
        </p:spPr>
        <p:txBody>
          <a:bodyPr wrap="square" lIns="0" tIns="0" rIns="0" bIns="0" rtlCol="0" anchor="t"/>
          <a:lstStyle/>
          <a:p>
            <a:pPr indent="0" marL="0">
              <a:buNone/>
            </a:pPr>
            <a:r>
              <a:rPr lang="en-US" sz="1400" dirty="0">
                <a:solidFill>
                  <a:schemeClr val="accent5"/>
                </a:solidFill>
              </a:rPr>
              <a:t>Projet, cours ou métier visé ? Sinon, je ne garde pas</a:t>
            </a:r>
            <a:endParaRPr lang="en-US" sz="1400" dirty="0"/>
          </a:p>
        </p:txBody>
      </p:sp>
      <p:sp>
        <p:nvSpPr>
          <p:cNvPr id="10" name="Text 8"/>
          <p:cNvSpPr txBox="1"/>
          <p:nvPr/>
        </p:nvSpPr>
        <p:spPr>
          <a:xfrm>
            <a:off x="548640" y="3474720"/>
            <a:ext cx="548640" cy="36576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11" name="Text 9"/>
          <p:cNvSpPr txBox="1"/>
          <p:nvPr/>
        </p:nvSpPr>
        <p:spPr>
          <a:xfrm>
            <a:off x="1188720" y="3474720"/>
            <a:ext cx="5029200" cy="347472"/>
          </a:xfrm>
          <a:prstGeom prst="rect">
            <a:avLst/>
          </a:prstGeom>
          <a:noFill/>
          <a:ln/>
        </p:spPr>
        <p:txBody>
          <a:bodyPr wrap="square" lIns="0" tIns="0" rIns="0" bIns="0" rtlCol="0" anchor="t"/>
          <a:lstStyle/>
          <a:p>
            <a:pPr indent="0" marL="0">
              <a:buNone/>
            </a:pPr>
            <a:r>
              <a:rPr lang="en-US" sz="1700" b="1" dirty="0">
                <a:solidFill>
                  <a:schemeClr val="tx1"/>
                </a:solidFill>
              </a:rPr>
              <a:t>Une lecture critique</a:t>
            </a:r>
            <a:endParaRPr lang="en-US" sz="1700" dirty="0"/>
          </a:p>
        </p:txBody>
      </p:sp>
      <p:sp>
        <p:nvSpPr>
          <p:cNvPr id="12" name="Text 10"/>
          <p:cNvSpPr txBox="1"/>
          <p:nvPr/>
        </p:nvSpPr>
        <p:spPr>
          <a:xfrm>
            <a:off x="1188720" y="3840480"/>
            <a:ext cx="5029200" cy="365760"/>
          </a:xfrm>
          <a:prstGeom prst="rect">
            <a:avLst/>
          </a:prstGeom>
          <a:noFill/>
          <a:ln/>
        </p:spPr>
        <p:txBody>
          <a:bodyPr wrap="square" lIns="0" tIns="0" rIns="0" bIns="0" rtlCol="0" anchor="t"/>
          <a:lstStyle/>
          <a:p>
            <a:pPr indent="0" marL="0">
              <a:buNone/>
            </a:pPr>
            <a:r>
              <a:rPr lang="en-US" sz="1400" dirty="0">
                <a:solidFill>
                  <a:schemeClr val="accent5"/>
                </a:solidFill>
              </a:rPr>
              <a:t>Source, date, deuxième source</a:t>
            </a:r>
            <a:endParaRPr lang="en-US" sz="1400" dirty="0"/>
          </a:p>
        </p:txBody>
      </p:sp>
      <p:sp>
        <p:nvSpPr>
          <p:cNvPr id="13" name="Text 11"/>
          <p:cNvSpPr txBox="1"/>
          <p:nvPr/>
        </p:nvSpPr>
        <p:spPr>
          <a:xfrm>
            <a:off x="548640" y="4389120"/>
            <a:ext cx="548640" cy="365760"/>
          </a:xfrm>
          <a:prstGeom prst="rect">
            <a:avLst/>
          </a:prstGeom>
          <a:noFill/>
          <a:ln/>
        </p:spPr>
        <p:txBody>
          <a:bodyPr wrap="square" lIns="0" tIns="0" rIns="0" bIns="0" rtlCol="0" anchor="t"/>
          <a:lstStyle/>
          <a:p>
            <a:pPr indent="0" marL="0">
              <a:buNone/>
            </a:pPr>
            <a:r>
              <a:rPr lang="en-US" sz="1600" b="1" dirty="0">
                <a:solidFill>
                  <a:schemeClr val="accent1"/>
                </a:solidFill>
              </a:rPr>
              <a:t>04</a:t>
            </a:r>
            <a:endParaRPr lang="en-US" sz="1600" dirty="0"/>
          </a:p>
        </p:txBody>
      </p:sp>
      <p:sp>
        <p:nvSpPr>
          <p:cNvPr id="14" name="Text 12"/>
          <p:cNvSpPr txBox="1"/>
          <p:nvPr/>
        </p:nvSpPr>
        <p:spPr>
          <a:xfrm>
            <a:off x="1188720" y="4389120"/>
            <a:ext cx="5029200" cy="347472"/>
          </a:xfrm>
          <a:prstGeom prst="rect">
            <a:avLst/>
          </a:prstGeom>
          <a:noFill/>
          <a:ln/>
        </p:spPr>
        <p:txBody>
          <a:bodyPr wrap="square" lIns="0" tIns="0" rIns="0" bIns="0" rtlCol="0" anchor="t"/>
          <a:lstStyle/>
          <a:p>
            <a:pPr indent="0" marL="0">
              <a:buNone/>
            </a:pPr>
            <a:r>
              <a:rPr lang="en-US" sz="1700" b="1" dirty="0">
                <a:solidFill>
                  <a:schemeClr val="tx1"/>
                </a:solidFill>
              </a:rPr>
              <a:t>Une trace</a:t>
            </a:r>
            <a:endParaRPr lang="en-US" sz="1700" dirty="0"/>
          </a:p>
        </p:txBody>
      </p:sp>
      <p:sp>
        <p:nvSpPr>
          <p:cNvPr id="15" name="Text 13"/>
          <p:cNvSpPr txBox="1"/>
          <p:nvPr/>
        </p:nvSpPr>
        <p:spPr>
          <a:xfrm>
            <a:off x="1188720" y="4754880"/>
            <a:ext cx="5029200" cy="365760"/>
          </a:xfrm>
          <a:prstGeom prst="rect">
            <a:avLst/>
          </a:prstGeom>
          <a:noFill/>
          <a:ln/>
        </p:spPr>
        <p:txBody>
          <a:bodyPr wrap="square" lIns="0" tIns="0" rIns="0" bIns="0" rtlCol="0" anchor="t"/>
          <a:lstStyle/>
          <a:p>
            <a:pPr indent="0" marL="0">
              <a:buNone/>
            </a:pPr>
            <a:r>
              <a:rPr lang="en-US" sz="1400" dirty="0">
                <a:solidFill>
                  <a:schemeClr val="accent5"/>
                </a:solidFill>
              </a:rPr>
              <a:t>Résumée sur le portfolio</a:t>
            </a:r>
            <a:endParaRPr lang="en-US" sz="1400" dirty="0"/>
          </a:p>
        </p:txBody>
      </p:sp>
      <p:sp>
        <p:nvSpPr>
          <p:cNvPr id="16" name="Carte"/>
          <p:cNvSpPr/>
          <p:nvPr/>
        </p:nvSpPr>
        <p:spPr>
          <a:xfrm>
            <a:off x="6400800" y="1645920"/>
            <a:ext cx="5239512" cy="2148840"/>
          </a:xfrm>
          <a:prstGeom prst="roundRect">
            <a:avLst>
              <a:gd name="adj" fmla="val 5106"/>
            </a:avLst>
          </a:prstGeom>
          <a:solidFill>
            <a:schemeClr val="accent1">
              <a:alpha val="8000"/>
            </a:schemeClr>
          </a:solidFill>
          <a:ln w="12700">
            <a:solidFill>
              <a:schemeClr val="accent1"/>
            </a:solidFill>
            <a:prstDash val="solid"/>
          </a:ln>
        </p:spPr>
      </p:sp>
      <p:sp>
        <p:nvSpPr>
          <p:cNvPr id="17" name="Text 15"/>
          <p:cNvSpPr txBox="1"/>
          <p:nvPr/>
        </p:nvSpPr>
        <p:spPr>
          <a:xfrm>
            <a:off x="6675120" y="1828800"/>
            <a:ext cx="475488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À LA UNE · 20 OCTOBRE 2026</a:t>
            </a:r>
            <a:endParaRPr lang="en-US" sz="1200" dirty="0"/>
          </a:p>
        </p:txBody>
      </p:sp>
      <p:sp>
        <p:nvSpPr>
          <p:cNvPr id="18" name="Text 16"/>
          <p:cNvSpPr txBox="1"/>
          <p:nvPr/>
        </p:nvSpPr>
        <p:spPr>
          <a:xfrm>
            <a:off x="6675120" y="2148840"/>
            <a:ext cx="4754880" cy="7315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PHP2Shell : deux failles critiques dans PHP</a:t>
            </a:r>
            <a:endParaRPr lang="en-US" sz="1900" dirty="0"/>
          </a:p>
        </p:txBody>
      </p:sp>
      <p:sp>
        <p:nvSpPr>
          <p:cNvPr id="19" name="Text 17"/>
          <p:cNvSpPr txBox="1"/>
          <p:nvPr/>
        </p:nvSpPr>
        <p:spPr>
          <a:xfrm>
            <a:off x="6675120" y="2971800"/>
            <a:ext cx="4754880" cy="640080"/>
          </a:xfrm>
          <a:prstGeom prst="rect">
            <a:avLst/>
          </a:prstGeom>
          <a:noFill/>
          <a:ln/>
        </p:spPr>
        <p:txBody>
          <a:bodyPr wrap="square" lIns="0" tIns="0" rIns="0" bIns="0" rtlCol="0" anchor="t"/>
          <a:lstStyle/>
          <a:p>
            <a:pPr indent="0" marL="0">
              <a:buNone/>
            </a:pPr>
            <a:r>
              <a:rPr lang="en-US" sz="1500" dirty="0">
                <a:solidFill>
                  <a:schemeClr val="accent5"/>
                </a:solidFill>
              </a:rPr>
              <a:t>Annoncées le 20, corrigées le 21. Trois de mes projets tournent sur PHP.</a:t>
            </a:r>
            <a:endParaRPr lang="en-US" sz="1500" dirty="0"/>
          </a:p>
        </p:txBody>
      </p:sp>
      <p:sp>
        <p:nvSpPr>
          <p:cNvPr id="20" name="Carte"/>
          <p:cNvSpPr/>
          <p:nvPr/>
        </p:nvSpPr>
        <p:spPr>
          <a:xfrm>
            <a:off x="6400800" y="3977640"/>
            <a:ext cx="5239512" cy="1325880"/>
          </a:xfrm>
          <a:prstGeom prst="roundRect">
            <a:avLst>
              <a:gd name="adj" fmla="val 8276"/>
            </a:avLst>
          </a:prstGeom>
          <a:solidFill>
            <a:schemeClr val="bg1"/>
          </a:solidFill>
          <a:ln w="12700">
            <a:solidFill>
              <a:schemeClr val="accent6"/>
            </a:solidFill>
            <a:prstDash val="solid"/>
          </a:ln>
          <a:effectLst>
            <a:outerShdw sx="100000" sy="100000" kx="0" ky="0" algn="bl" rotWithShape="0" blurRad="127000" dist="25400" dir="5400000">
              <a:srgbClr val="12141B">
                <a:alpha val="12000"/>
              </a:srgbClr>
            </a:outerShdw>
          </a:effectLst>
        </p:spPr>
      </p:sp>
      <p:sp>
        <p:nvSpPr>
          <p:cNvPr id="21" name="Text 19"/>
          <p:cNvSpPr txBox="1"/>
          <p:nvPr/>
        </p:nvSpPr>
        <p:spPr>
          <a:xfrm>
            <a:off x="6675120" y="4133088"/>
            <a:ext cx="475488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MON CAP</a:t>
            </a:r>
            <a:endParaRPr lang="en-US" sz="1200" dirty="0"/>
          </a:p>
        </p:txBody>
      </p:sp>
      <p:sp>
        <p:nvSpPr>
          <p:cNvPr id="22" name="Text 20"/>
          <p:cNvSpPr txBox="1"/>
          <p:nvPr/>
        </p:nvSpPr>
        <p:spPr>
          <a:xfrm>
            <a:off x="6675120" y="4434840"/>
            <a:ext cx="4754880" cy="7315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Une alternance, puis un bachelor DevOps</a:t>
            </a:r>
            <a:endParaRPr lang="en-US" sz="1900" dirty="0"/>
          </a:p>
        </p:txBody>
      </p:sp>
      <p:sp>
        <p:nvSpPr>
          <p:cNvPr id="23" name="Pastille"/>
          <p:cNvSpPr/>
          <p:nvPr/>
        </p:nvSpPr>
        <p:spPr>
          <a:xfrm>
            <a:off x="548640" y="5532120"/>
            <a:ext cx="1832458"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24" name="Pastille texte"/>
          <p:cNvSpPr txBox="1"/>
          <p:nvPr/>
        </p:nvSpPr>
        <p:spPr>
          <a:xfrm>
            <a:off x="548640" y="5532120"/>
            <a:ext cx="1832458" cy="347472"/>
          </a:xfrm>
          <a:prstGeom prst="rect">
            <a:avLst/>
          </a:prstGeom>
          <a:noFill/>
          <a:ln/>
        </p:spPr>
        <p:txBody>
          <a:bodyPr wrap="square" lIns="0" tIns="0" rIns="0" bIns="0" rtlCol="0" anchor="ctr"/>
          <a:lstStyle/>
          <a:p>
            <a:pPr algn="ctr" indent="0" marL="0">
              <a:buNone/>
            </a:pPr>
            <a:r>
              <a:rPr lang="en-US" sz="1250" b="1" dirty="0">
                <a:solidFill>
                  <a:schemeClr val="accent1"/>
                </a:solidFill>
              </a:rPr>
              <a:t>Mes projets en PHP</a:t>
            </a:r>
            <a:endParaRPr lang="en-US" sz="1250" dirty="0"/>
          </a:p>
        </p:txBody>
      </p:sp>
      <p:sp>
        <p:nvSpPr>
          <p:cNvPr id="25" name="Pastille"/>
          <p:cNvSpPr/>
          <p:nvPr/>
        </p:nvSpPr>
        <p:spPr>
          <a:xfrm>
            <a:off x="2518258" y="5532120"/>
            <a:ext cx="2154326"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26" name="Pastille texte"/>
          <p:cNvSpPr txBox="1"/>
          <p:nvPr/>
        </p:nvSpPr>
        <p:spPr>
          <a:xfrm>
            <a:off x="2518258" y="5532120"/>
            <a:ext cx="2154326" cy="347472"/>
          </a:xfrm>
          <a:prstGeom prst="rect">
            <a:avLst/>
          </a:prstGeom>
          <a:noFill/>
          <a:ln/>
        </p:spPr>
        <p:txBody>
          <a:bodyPr wrap="square" lIns="0" tIns="0" rIns="0" bIns="0" rtlCol="0" anchor="ctr"/>
          <a:lstStyle/>
          <a:p>
            <a:pPr algn="ctr" indent="0" marL="0">
              <a:buNone/>
            </a:pPr>
            <a:r>
              <a:rPr lang="en-US" sz="1250" b="1" dirty="0">
                <a:solidFill>
                  <a:schemeClr val="accent1"/>
                </a:solidFill>
              </a:rPr>
              <a:t>GitLab 101 · Terraform</a:t>
            </a:r>
            <a:endParaRPr lang="en-US" sz="1250" dirty="0"/>
          </a:p>
        </p:txBody>
      </p:sp>
      <p:sp>
        <p:nvSpPr>
          <p:cNvPr id="27" name="Pastille"/>
          <p:cNvSpPr/>
          <p:nvPr/>
        </p:nvSpPr>
        <p:spPr>
          <a:xfrm>
            <a:off x="4809744" y="5532120"/>
            <a:ext cx="1027786"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28" name="Pastille texte"/>
          <p:cNvSpPr txBox="1"/>
          <p:nvPr/>
        </p:nvSpPr>
        <p:spPr>
          <a:xfrm>
            <a:off x="4809744" y="5532120"/>
            <a:ext cx="1027786" cy="347472"/>
          </a:xfrm>
          <a:prstGeom prst="rect">
            <a:avLst/>
          </a:prstGeom>
          <a:noFill/>
          <a:ln/>
        </p:spPr>
        <p:txBody>
          <a:bodyPr wrap="square" lIns="0" tIns="0" rIns="0" bIns="0" rtlCol="0" anchor="ctr"/>
          <a:lstStyle/>
          <a:p>
            <a:pPr algn="ctr" indent="0" marL="0">
              <a:buNone/>
            </a:pPr>
            <a:r>
              <a:rPr lang="en-US" sz="1250" b="1" dirty="0">
                <a:solidFill>
                  <a:schemeClr val="accent1"/>
                </a:solidFill>
              </a:rPr>
              <a:t>ClickFix</a:t>
            </a:r>
            <a:endParaRPr lang="en-US" sz="1250" dirty="0"/>
          </a:p>
        </p:txBody>
      </p:sp>
      <p:sp>
        <p:nvSpPr>
          <p:cNvPr id="29" name="Pastille"/>
          <p:cNvSpPr/>
          <p:nvPr/>
        </p:nvSpPr>
        <p:spPr>
          <a:xfrm>
            <a:off x="5974690" y="5532120"/>
            <a:ext cx="705917" cy="34747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30" name="Pastille texte"/>
          <p:cNvSpPr txBox="1"/>
          <p:nvPr/>
        </p:nvSpPr>
        <p:spPr>
          <a:xfrm>
            <a:off x="5974690" y="5532120"/>
            <a:ext cx="705917" cy="347472"/>
          </a:xfrm>
          <a:prstGeom prst="rect">
            <a:avLst/>
          </a:prstGeom>
          <a:noFill/>
          <a:ln/>
        </p:spPr>
        <p:txBody>
          <a:bodyPr wrap="square" lIns="0" tIns="0" rIns="0" bIns="0" rtlCol="0" anchor="ctr"/>
          <a:lstStyle/>
          <a:p>
            <a:pPr algn="ctr" indent="0" marL="0">
              <a:buNone/>
            </a:pPr>
            <a:r>
              <a:rPr lang="en-US" sz="1250" b="1" dirty="0">
                <a:solidFill>
                  <a:schemeClr val="accent1"/>
                </a:solidFill>
              </a:rPr>
              <a:t>NIS2</a:t>
            </a:r>
            <a:endParaRPr lang="en-US" sz="1250" dirty="0"/>
          </a:p>
        </p:txBody>
      </p:sp>
      <p:sp>
        <p:nvSpPr>
          <p:cNvPr id="25" name="Slide Number Placeholder 0"/>
          <p:cNvSpPr>
            <a:spLocks noGrp="1"/>
          </p:cNvSpPr>
          <p:nvPr>
            <p:ph type="sldNum" sz="quarter" idx="4294967295"/>
          </p:nvPr>
        </p:nvSpPr>
        <p:spPr>
          <a:xfrm>
            <a:off x="1118585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B526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7315200" cy="365760"/>
          </a:xfrm>
          <a:prstGeom prst="rect">
            <a:avLst/>
          </a:prstGeom>
          <a:noFill/>
          <a:ln/>
        </p:spPr>
        <p:txBody>
          <a:bodyPr wrap="square" rtlCol="0"/>
          <a:lstStyle/>
          <a:p>
            <a:pPr indent="0" marL="0">
              <a:buNone/>
            </a:pPr>
            <a:r>
              <a:rPr lang="en-US" sz="1400" b="1" spc="200" kern="0" dirty="0">
                <a:solidFill>
                  <a:schemeClr val="accent1"/>
                </a:solidFill>
              </a:rPr>
              <a:t>MERCI</a:t>
            </a:r>
            <a:endParaRPr lang="en-US" sz="1400" dirty="0"/>
          </a:p>
        </p:txBody>
      </p:sp>
      <p:sp>
        <p:nvSpPr>
          <p:cNvPr id="3" name="Text 0"/>
          <p:cNvSpPr/>
          <p:nvPr>
            <p:ph idx="101" type="title" hasCustomPrompt="1"/>
          </p:nvPr>
        </p:nvSpPr>
        <p:spPr>
          <a:xfrm>
            <a:off x="548640" y="2011680"/>
            <a:ext cx="7498080" cy="2011680"/>
          </a:xfrm>
          <a:prstGeom prst="rect">
            <a:avLst/>
          </a:prstGeom>
          <a:noFill/>
          <a:ln/>
        </p:spPr>
        <p:txBody>
          <a:bodyPr wrap="square" rtlCol="0" anchor="t"/>
          <a:lstStyle/>
          <a:p>
            <a:pPr algn="l" indent="0" marL="0">
              <a:buNone/>
            </a:pPr>
            <a:r>
              <a:rPr lang="en-US" sz="4400" b="1" dirty="0">
                <a:solidFill>
                  <a:schemeClr val="bg1"/>
                </a:solidFill>
                <a:latin typeface="Arial" pitchFamily="34" charset="0"/>
                <a:ea typeface="Arial" pitchFamily="34" charset="-122"/>
                <a:cs typeface="Arial" pitchFamily="34" charset="-120"/>
              </a:rPr>
              <a:t>Vos questions</a:t>
            </a:r>
            <a:endParaRPr lang="en-US" sz="4400" dirty="0"/>
          </a:p>
        </p:txBody>
      </p:sp>
      <p:sp>
        <p:nvSpPr>
          <p:cNvPr id="4" name="Lien">
            <a:hlinkClick r:id="rId1" tooltip=""/>
          </p:cNvPr>
          <p:cNvSpPr txBox="1"/>
          <p:nvPr/>
        </p:nvSpPr>
        <p:spPr>
          <a:xfrm>
            <a:off x="8503920" y="2103120"/>
            <a:ext cx="3108960" cy="502920"/>
          </a:xfrm>
          <a:prstGeom prst="rect">
            <a:avLst/>
          </a:prstGeom>
          <a:noFill/>
          <a:ln/>
        </p:spPr>
        <p:txBody>
          <a:bodyPr wrap="square" lIns="1270" tIns="1270" rIns="1270" bIns="1270" rtlCol="0" anchor="ctr"/>
          <a:lstStyle/>
          <a:p>
            <a:pPr indent="0" marL="0">
              <a:buNone/>
            </a:pPr>
            <a:r>
              <a:rPr lang="en-US" sz="18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Portfolio</a:t>
            </a:r>
            <a:endParaRPr lang="en-US" sz="1800" dirty="0"/>
          </a:p>
        </p:txBody>
      </p:sp>
      <p:sp>
        <p:nvSpPr>
          <p:cNvPr id="5" name="Lien">
            <a:hlinkClick r:id="rId2" tooltip=""/>
          </p:cNvPr>
          <p:cNvSpPr txBox="1"/>
          <p:nvPr/>
        </p:nvSpPr>
        <p:spPr>
          <a:xfrm>
            <a:off x="8503920" y="2788920"/>
            <a:ext cx="3108960" cy="502920"/>
          </a:xfrm>
          <a:prstGeom prst="rect">
            <a:avLst/>
          </a:prstGeom>
          <a:noFill/>
          <a:ln/>
        </p:spPr>
        <p:txBody>
          <a:bodyPr wrap="square" lIns="1270" tIns="1270" rIns="1270" bIns="1270" rtlCol="0" anchor="ctr"/>
          <a:lstStyle/>
          <a:p>
            <a:pPr indent="0" marL="0">
              <a:buNone/>
            </a:pPr>
            <a:r>
              <a:rPr lang="en-US" sz="18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SYNCRO</a:t>
            </a:r>
            <a:endParaRPr lang="en-US" sz="1800" dirty="0"/>
          </a:p>
        </p:txBody>
      </p:sp>
      <p:sp>
        <p:nvSpPr>
          <p:cNvPr id="6" name="Lien">
            <a:hlinkClick r:id="rId3" tooltip=""/>
          </p:cNvPr>
          <p:cNvSpPr txBox="1"/>
          <p:nvPr/>
        </p:nvSpPr>
        <p:spPr>
          <a:xfrm>
            <a:off x="8503920" y="3474720"/>
            <a:ext cx="3108960" cy="502920"/>
          </a:xfrm>
          <a:prstGeom prst="rect">
            <a:avLst/>
          </a:prstGeom>
          <a:noFill/>
          <a:ln/>
        </p:spPr>
        <p:txBody>
          <a:bodyPr wrap="square" lIns="1270" tIns="1270" rIns="1270" bIns="1270" rtlCol="0" anchor="ctr"/>
          <a:lstStyle/>
          <a:p>
            <a:pPr indent="0" marL="0">
              <a:buNone/>
            </a:pPr>
            <a:r>
              <a:rPr lang="en-US" sz="18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CRP-Assurance</a:t>
            </a:r>
            <a:endParaRPr lang="en-US" sz="1800" dirty="0"/>
          </a:p>
        </p:txBody>
      </p:sp>
      <p:sp>
        <p:nvSpPr>
          <p:cNvPr id="8" name="Text 0"/>
          <p:cNvSpPr/>
          <p:nvPr>
            <p:ph idx="102" type="body" hasCustomPrompt="1"/>
          </p:nvPr>
        </p:nvSpPr>
        <p:spPr>
          <a:xfrm>
            <a:off x="548640" y="4297680"/>
            <a:ext cx="7315200" cy="914400"/>
          </a:xfrm>
          <a:prstGeom prst="rect">
            <a:avLst/>
          </a:prstGeom>
          <a:noFill/>
          <a:ln/>
        </p:spPr>
        <p:txBody>
          <a:bodyPr wrap="square" rtlCol="0"/>
          <a:lstStyle/>
          <a:p>
            <a:pPr indent="0" marL="0">
              <a:buNone/>
            </a:pPr>
            <a:endParaRPr lang="en-US" sz="1800" dirty="0"/>
          </a:p>
        </p:txBody>
      </p:sp>
    </p:spTree>
  </p:cSld>
  <p:clrMapOvr>
    <a:masterClrMapping/>
  </p:clrMapOvr>
</p:sld>
</file>

<file path=ppt/theme/theme1.xml><?xml version="1.0" encoding="utf-8"?>
<a:theme xmlns:a="http://schemas.openxmlformats.org/drawingml/2006/main" name="Portfolio Dorian Pachot">
  <a:themeElements>
    <a:clrScheme name="Portfolio Dorian Pachot">
      <a:dk1>
        <a:srgbClr val="12141B"/>
      </a:dk1>
      <a:lt1>
        <a:srgbClr val="FFFFFF"/>
      </a:lt1>
      <a:dk2>
        <a:srgbClr val="0B0D13"/>
      </a:dk2>
      <a:lt2>
        <a:srgbClr val="F3F4F6"/>
      </a:lt2>
      <a:accent1>
        <a:srgbClr val="DC2626"/>
      </a:accent1>
      <a:accent2>
        <a:srgbClr val="B45309"/>
      </a:accent2>
      <a:accent3>
        <a:srgbClr val="0E7490"/>
      </a:accent3>
      <a:accent4>
        <a:srgbClr val="15803D"/>
      </a:accent4>
      <a:accent5>
        <a:srgbClr val="4B5263"/>
      </a:accent5>
      <a:accent6>
        <a:srgbClr val="D5D8E0"/>
      </a:accent6>
      <a:hlink>
        <a:srgbClr val="B91C1C"/>
      </a:hlink>
      <a:folHlink>
        <a:srgbClr val="7F1D1D"/>
      </a:folHlink>
    </a:clrScheme>
    <a:fontScheme name="Portfolio Dorian Pach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Épreuve E5, Dorian Pachot</dc:title>
  <dc:subject>PptxGenJS Presentation</dc:subject>
  <dc:creator>Dorian Pachot</dc:creator>
  <cp:lastModifiedBy>Dorian Pachot</cp:lastModifiedBy>
  <cp:revision>1</cp:revision>
  <dcterms:created xsi:type="dcterms:W3CDTF">2026-10-23T12:38:30Z</dcterms:created>
  <dcterms:modified xsi:type="dcterms:W3CDTF">2026-10-23T12:38:30Z</dcterms:modified>
</cp:coreProperties>
</file>